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Open Sans Bold" charset="1" panose="00000000000000000000"/>
      <p:regular r:id="rId37"/>
    </p:embeddedFont>
    <p:embeddedFont>
      <p:font typeface="Bebas Neue Cyrillic" charset="1" panose="02000506000000020004"/>
      <p:regular r:id="rId38"/>
    </p:embeddedFont>
    <p:embeddedFont>
      <p:font typeface="Open Sans" charset="1" panose="00000000000000000000"/>
      <p:regular r:id="rId39"/>
    </p:embeddedFont>
    <p:embeddedFont>
      <p:font typeface="Open Sans Italics" charset="1" panose="00000000000000000000"/>
      <p:regular r:id="rId40"/>
    </p:embeddedFont>
    <p:embeddedFont>
      <p:font typeface="Canva Sans" charset="1" panose="020B0503030501040103"/>
      <p:regular r:id="rId44"/>
    </p:embeddedFont>
    <p:embeddedFont>
      <p:font typeface="Canva Sans Bold" charset="1" panose="020B0803030501040103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Masters/notesMaster1.xml" Type="http://schemas.openxmlformats.org/officeDocument/2006/relationships/notesMaster"/><Relationship Id="rId42" Target="theme/theme2.xml" Type="http://schemas.openxmlformats.org/officeDocument/2006/relationships/theme"/><Relationship Id="rId43" Target="notesSlides/notesSlide1.xml" Type="http://schemas.openxmlformats.org/officeDocument/2006/relationships/notes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When programs are compiled, it will strip many of what we see as recognizable code and turn it into something that machines can understand better. </a:t>
            </a:r>
          </a:p>
          <a:p>
            <a:r>
              <a:rPr lang="en-US"/>
              <a:t/>
            </a:r>
          </a:p>
          <a:p>
            <a:r>
              <a:rPr lang="en-US"/>
              <a:t>The job of those reverse engineering is to try and take this now compiled code and pick apart the code to better understand how it works. </a:t>
            </a:r>
          </a:p>
          <a:p>
            <a:r>
              <a:rPr lang="en-US"/>
              <a:t/>
            </a:r>
          </a:p>
          <a:p>
            <a:r>
              <a:rPr lang="en-US"/>
              <a:t>While the mantra "Everything is open source if you know assembly" seems clear here, but its not as easy as it appears. a car mechanic can take apart a car and understand all of it's components easily. but someone taking apart a spaceship might find themselves in a lot more trouble.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VAG1-fj3eA8.mp4" Type="http://schemas.openxmlformats.org/officeDocument/2006/relationships/video"/><Relationship Id="rId4" Target="../media/VAG1-fj3eA8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https://binary.ninja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app.any.run/tasks/7c67de98-bc5a-412b-afaa-44bf0bd4d28b" TargetMode="External" Type="http://schemas.openxmlformats.org/officeDocument/2006/relationships/hyperlink"/><Relationship Id="rId3" Target="https://app.any.run/tasks/7c67de98-bc5a-412b-afaa-44bf0bd4d28b" TargetMode="External" Type="http://schemas.openxmlformats.org/officeDocument/2006/relationships/hyperlink"/><Relationship Id="rId4" Target="https://app.any.run/tasks/7c67de98-bc5a-412b-afaa-44bf0bd4d28b" TargetMode="External" Type="http://schemas.openxmlformats.org/officeDocument/2006/relationships/hyperlink"/><Relationship Id="rId5" Target="https://app.any.run/tasks/7c67de98-bc5a-412b-afaa-44bf0bd4d28b" TargetMode="External" Type="http://schemas.openxmlformats.org/officeDocument/2006/relationships/hyperlink"/><Relationship Id="rId6" Target="https://app.any.run/tasks/7c67de98-bc5a-412b-afaa-44bf0bd4d28b" TargetMode="External" Type="http://schemas.openxmlformats.org/officeDocument/2006/relationships/hyperlink"/><Relationship Id="rId7" Target="https://app.any.run/tasks/7c67de98-bc5a-412b-afaa-44bf0bd4d28b" TargetMode="External" Type="http://schemas.openxmlformats.org/officeDocument/2006/relationships/hyperlink"/><Relationship Id="rId8" Target="https://app.any.run/tasks/7c67de98-bc5a-412b-afaa-44bf0bd4d28b" TargetMode="External" Type="http://schemas.openxmlformats.org/officeDocument/2006/relationships/hyperlink"/><Relationship Id="rId9" Target="../media/image2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VAG1-ZxthcE.mp4" Type="http://schemas.openxmlformats.org/officeDocument/2006/relationships/video"/><Relationship Id="rId4" Target="../media/VAG1-ZxthcE.mp4" Type="http://schemas.microsoft.com/office/2007/relationships/media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VAG1-beLPc0.mp4" Type="http://schemas.openxmlformats.org/officeDocument/2006/relationships/video"/><Relationship Id="rId4" Target="../media/VAG1-beLPc0.mp4" Type="http://schemas.microsoft.com/office/2007/relationships/media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VAG1-Md4iG4.mp4" Type="http://schemas.openxmlformats.org/officeDocument/2006/relationships/video"/><Relationship Id="rId4" Target="../media/VAG1-Md4iG4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90482" y="8660782"/>
            <a:ext cx="597518" cy="5975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87442" y="2058006"/>
            <a:ext cx="2513117" cy="2550211"/>
          </a:xfrm>
          <a:custGeom>
            <a:avLst/>
            <a:gdLst/>
            <a:ahLst/>
            <a:cxnLst/>
            <a:rect r="r" b="b" t="t" l="l"/>
            <a:pathLst>
              <a:path h="2550211" w="2513117">
                <a:moveTo>
                  <a:pt x="0" y="0"/>
                </a:moveTo>
                <a:lnTo>
                  <a:pt x="2513116" y="0"/>
                </a:lnTo>
                <a:lnTo>
                  <a:pt x="2513116" y="2550210"/>
                </a:lnTo>
                <a:lnTo>
                  <a:pt x="0" y="255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79686" y="2704313"/>
            <a:ext cx="728628" cy="987058"/>
          </a:xfrm>
          <a:custGeom>
            <a:avLst/>
            <a:gdLst/>
            <a:ahLst/>
            <a:cxnLst/>
            <a:rect r="r" b="b" t="t" l="l"/>
            <a:pathLst>
              <a:path h="987058" w="728628">
                <a:moveTo>
                  <a:pt x="0" y="0"/>
                </a:moveTo>
                <a:lnTo>
                  <a:pt x="728628" y="0"/>
                </a:lnTo>
                <a:lnTo>
                  <a:pt x="728628" y="987057"/>
                </a:lnTo>
                <a:lnTo>
                  <a:pt x="0" y="987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57396" y="8851031"/>
            <a:ext cx="263689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7518" y="4327319"/>
            <a:ext cx="17092964" cy="309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6"/>
              </a:lnSpc>
              <a:spcBef>
                <a:spcPct val="0"/>
              </a:spcBef>
            </a:pPr>
            <a:r>
              <a:rPr lang="en-US" sz="18068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REVERSE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90482" y="8660782"/>
            <a:ext cx="597518" cy="5975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00863" y="5064852"/>
            <a:ext cx="4243184" cy="3646486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43953" y="5064852"/>
            <a:ext cx="4243184" cy="3646486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76051" y="4432165"/>
            <a:ext cx="14535897" cy="4911860"/>
            <a:chOff x="0" y="0"/>
            <a:chExt cx="2067104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67104" cy="698500"/>
            </a:xfrm>
            <a:custGeom>
              <a:avLst/>
              <a:gdLst/>
              <a:ahLst/>
              <a:cxnLst/>
              <a:rect r="r" b="b" t="t" l="l"/>
              <a:pathLst>
                <a:path h="698500" w="2067104">
                  <a:moveTo>
                    <a:pt x="2067104" y="349250"/>
                  </a:moveTo>
                  <a:lnTo>
                    <a:pt x="1863904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863904" y="0"/>
                  </a:lnTo>
                  <a:lnTo>
                    <a:pt x="2067104" y="349250"/>
                  </a:lnTo>
                  <a:close/>
                </a:path>
              </a:pathLst>
            </a:custGeom>
            <a:blipFill>
              <a:blip r:embed="rId2"/>
              <a:stretch>
                <a:fillRect l="0" t="-97967" r="0" b="-97967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857396" y="8851031"/>
            <a:ext cx="26368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50184" y="1737803"/>
            <a:ext cx="4569056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OBJECTIVES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08849" y="1320669"/>
            <a:ext cx="5744436" cy="266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567" indent="-275783" lvl="1">
              <a:lnSpc>
                <a:spcPts val="3576"/>
              </a:lnSpc>
              <a:buFont typeface="Arial"/>
              <a:buChar char="•"/>
            </a:pPr>
            <a:r>
              <a:rPr lang="en-US" sz="25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What is reverse engineering?</a:t>
            </a:r>
          </a:p>
          <a:p>
            <a:pPr algn="l" marL="551567" indent="-275783" lvl="1">
              <a:lnSpc>
                <a:spcPts val="3576"/>
              </a:lnSpc>
              <a:buFont typeface="Arial"/>
              <a:buChar char="•"/>
            </a:pPr>
            <a:r>
              <a:rPr lang="en-US" sz="25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Tools of reverse engineering</a:t>
            </a:r>
          </a:p>
          <a:p>
            <a:pPr algn="l" marL="1103133" indent="-367711" lvl="2">
              <a:lnSpc>
                <a:spcPts val="3576"/>
              </a:lnSpc>
              <a:buFont typeface="Arial"/>
              <a:buChar char="⚬"/>
            </a:pPr>
            <a:r>
              <a:rPr lang="en-US" sz="25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Static Analysis</a:t>
            </a:r>
          </a:p>
          <a:p>
            <a:pPr algn="l" marL="1103133" indent="-367711" lvl="2">
              <a:lnSpc>
                <a:spcPts val="3576"/>
              </a:lnSpc>
              <a:buFont typeface="Arial"/>
              <a:buChar char="⚬"/>
            </a:pPr>
            <a:r>
              <a:rPr lang="en-US" sz="25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Dynamic Analysis</a:t>
            </a:r>
          </a:p>
          <a:p>
            <a:pPr algn="l" marL="551567" indent="-275783" lvl="1">
              <a:lnSpc>
                <a:spcPts val="3576"/>
              </a:lnSpc>
              <a:spcBef>
                <a:spcPct val="0"/>
              </a:spcBef>
              <a:buFont typeface="Arial"/>
              <a:buChar char="•"/>
            </a:pPr>
            <a:r>
              <a:rPr lang="en-US" sz="25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Where to learn more about reverse engineering?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90482" y="8660782"/>
            <a:ext cx="597518" cy="5975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857396" y="8851031"/>
            <a:ext cx="26368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8685" y="2522295"/>
            <a:ext cx="14870630" cy="412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1"/>
              </a:lnSpc>
              <a:spcBef>
                <a:spcPct val="0"/>
              </a:spcBef>
            </a:pPr>
            <a:r>
              <a:rPr lang="en-US" sz="23987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FUNDEMENTALS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90482" y="8660782"/>
            <a:ext cx="597518" cy="5975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31629" y="2388184"/>
            <a:ext cx="6412371" cy="5510631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709858" y="2150697"/>
            <a:ext cx="9759796" cy="5748118"/>
            <a:chOff x="0" y="0"/>
            <a:chExt cx="1185991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85991" cy="698500"/>
            </a:xfrm>
            <a:custGeom>
              <a:avLst/>
              <a:gdLst/>
              <a:ahLst/>
              <a:cxnLst/>
              <a:rect r="r" b="b" t="t" l="l"/>
              <a:pathLst>
                <a:path h="698500" w="1185991">
                  <a:moveTo>
                    <a:pt x="1185991" y="349250"/>
                  </a:moveTo>
                  <a:lnTo>
                    <a:pt x="9827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982791" y="0"/>
                  </a:lnTo>
                  <a:lnTo>
                    <a:pt x="1185991" y="349250"/>
                  </a:lnTo>
                  <a:close/>
                </a:path>
              </a:pathLst>
            </a:custGeom>
            <a:blipFill>
              <a:blip r:embed="rId2"/>
              <a:stretch>
                <a:fillRect l="0" t="-15860" r="0" b="-6242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857396" y="8851031"/>
            <a:ext cx="26368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71787" y="2699556"/>
            <a:ext cx="4569056" cy="18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WHAT IS REV ENGINEERING?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71787" y="4725101"/>
            <a:ext cx="5887513" cy="296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2"/>
              </a:lnSpc>
            </a:pPr>
            <a:r>
              <a:rPr lang="en-US" sz="2102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“Reverse engineering malware is the process of deconstructing malicious software to understand its design, functionality, and behavior.”</a:t>
            </a:r>
          </a:p>
          <a:p>
            <a:pPr algn="l">
              <a:lnSpc>
                <a:spcPts val="2942"/>
              </a:lnSpc>
            </a:pPr>
          </a:p>
          <a:p>
            <a:pPr algn="l" marL="453824" indent="-226912" lvl="1">
              <a:lnSpc>
                <a:spcPts val="2942"/>
              </a:lnSpc>
              <a:buFont typeface="Arial"/>
              <a:buChar char="•"/>
            </a:pPr>
            <a:r>
              <a:rPr lang="en-US" sz="210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Looking for specific Tactics Techniques and Procedures (TTPs) to identify the malware or group</a:t>
            </a:r>
          </a:p>
          <a:p>
            <a:pPr algn="l">
              <a:lnSpc>
                <a:spcPts val="294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90482" y="8660782"/>
            <a:ext cx="597518" cy="5975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00863" y="5249678"/>
            <a:ext cx="4243184" cy="3646486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43953" y="5249678"/>
            <a:ext cx="4243184" cy="3646486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76051" y="4616991"/>
            <a:ext cx="14535897" cy="4911860"/>
            <a:chOff x="0" y="0"/>
            <a:chExt cx="2067104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67104" cy="698500"/>
            </a:xfrm>
            <a:custGeom>
              <a:avLst/>
              <a:gdLst/>
              <a:ahLst/>
              <a:cxnLst/>
              <a:rect r="r" b="b" t="t" l="l"/>
              <a:pathLst>
                <a:path h="698500" w="2067104">
                  <a:moveTo>
                    <a:pt x="2067104" y="349250"/>
                  </a:moveTo>
                  <a:lnTo>
                    <a:pt x="1863904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863904" y="0"/>
                  </a:lnTo>
                  <a:lnTo>
                    <a:pt x="2067104" y="349250"/>
                  </a:lnTo>
                  <a:close/>
                </a:path>
              </a:pathLst>
            </a:custGeom>
            <a:blipFill>
              <a:blip r:embed="rId3"/>
              <a:stretch>
                <a:fillRect l="0" t="-33231" r="0" b="-3323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857396" y="8851031"/>
            <a:ext cx="26368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76051" y="1392566"/>
            <a:ext cx="5729020" cy="18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WHY DO WE HAVE TO REVERSE ENGINEER?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78019" y="680112"/>
            <a:ext cx="5744436" cy="393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567" indent="-275783" lvl="1">
              <a:lnSpc>
                <a:spcPts val="3576"/>
              </a:lnSpc>
              <a:buFont typeface="Arial"/>
              <a:buChar char="•"/>
            </a:pPr>
            <a:r>
              <a:rPr lang="en-US" sz="25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When programs are compiled it will likely strip</a:t>
            </a:r>
          </a:p>
          <a:p>
            <a:pPr algn="l" marL="1103133" indent="-367711" lvl="2">
              <a:lnSpc>
                <a:spcPts val="3576"/>
              </a:lnSpc>
              <a:buFont typeface="Arial"/>
              <a:buChar char="⚬"/>
            </a:pPr>
            <a:r>
              <a:rPr lang="en-US" sz="25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Source code</a:t>
            </a:r>
          </a:p>
          <a:p>
            <a:pPr algn="l" marL="1103133" indent="-367711" lvl="2">
              <a:lnSpc>
                <a:spcPts val="3576"/>
              </a:lnSpc>
              <a:buFont typeface="Arial"/>
              <a:buChar char="⚬"/>
            </a:pPr>
            <a:r>
              <a:rPr lang="en-US" sz="25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Variable names</a:t>
            </a:r>
          </a:p>
          <a:p>
            <a:pPr algn="l">
              <a:lnSpc>
                <a:spcPts val="3576"/>
              </a:lnSpc>
            </a:pPr>
          </a:p>
          <a:p>
            <a:pPr algn="l" marL="529977" indent="-264989" lvl="1">
              <a:lnSpc>
                <a:spcPts val="3436"/>
              </a:lnSpc>
              <a:buFont typeface="Arial"/>
              <a:buChar char="•"/>
            </a:pPr>
            <a:r>
              <a:rPr lang="en-US" sz="24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Compiled binaries will </a:t>
            </a:r>
            <a:r>
              <a:rPr lang="en-US" sz="2454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not show the original code</a:t>
            </a:r>
          </a:p>
          <a:p>
            <a:pPr algn="l" marL="529977" indent="-264989" lvl="1">
              <a:lnSpc>
                <a:spcPts val="3436"/>
              </a:lnSpc>
              <a:buFont typeface="Arial"/>
              <a:buChar char="•"/>
            </a:pPr>
            <a:r>
              <a:rPr lang="en-US" sz="245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So, we have to build it from scratch.</a:t>
            </a:r>
          </a:p>
          <a:p>
            <a:pPr algn="l">
              <a:lnSpc>
                <a:spcPts val="343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9250525" y="2310677"/>
            <a:ext cx="7725881" cy="5665646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52500" y="944676"/>
            <a:ext cx="6980560" cy="18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WHAT DO DISSASEMBLERS SHOW US?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7792" y="3494904"/>
            <a:ext cx="7325268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instruction code of a program. 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 may ask a Barista to make you a coffee without knowing how to make it if using a coding language like python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 assembly it would be like instructing the barista how each braincell should function to make that coffee. </a:t>
            </a:r>
          </a:p>
          <a:p>
            <a:pPr algn="l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Providing an extreme amount of detail </a:t>
            </a:r>
          </a:p>
          <a:p>
            <a:pPr algn="l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Hard to parse through without identifying specific objectives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90482" y="8660782"/>
            <a:ext cx="597518" cy="5975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857396" y="8851031"/>
            <a:ext cx="26368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75472" y="898062"/>
            <a:ext cx="4569056" cy="18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DYNAMIC VS STATIC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08175" y="3660775"/>
            <a:ext cx="5193030" cy="287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Static Analysis:</a:t>
            </a:r>
          </a:p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Dissasembler</a:t>
            </a:r>
          </a:p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Decode code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12877" y="3660775"/>
            <a:ext cx="6602971" cy="287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Analysis:</a:t>
            </a:r>
          </a:p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Debugger</a:t>
            </a:r>
          </a:p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Memory analysis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690482" y="8660782"/>
            <a:ext cx="597518" cy="59751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576341" y="1801985"/>
            <a:ext cx="3086100" cy="2652117"/>
            <a:chOff x="0" y="0"/>
            <a:chExt cx="8128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95757" y="5832898"/>
            <a:ext cx="3086100" cy="2652117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28126" y="2091882"/>
            <a:ext cx="7101947" cy="6103235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2"/>
              <a:stretch>
                <a:fillRect l="-26388" t="0" r="-26388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Video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857396" y="8851031"/>
            <a:ext cx="26368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3973" y="1076325"/>
            <a:ext cx="98989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WHAT TOOLS MIGHT YOU NEED?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3973" y="2973412"/>
            <a:ext cx="6332053" cy="513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9257" indent="-349628" lvl="1">
              <a:lnSpc>
                <a:spcPts val="4534"/>
              </a:lnSpc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Static analysis tools</a:t>
            </a:r>
          </a:p>
          <a:p>
            <a:pPr algn="l" marL="1398513" indent="-466171" lvl="2">
              <a:lnSpc>
                <a:spcPts val="4534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Built in OS Tools</a:t>
            </a:r>
          </a:p>
          <a:p>
            <a:pPr algn="l" marL="1398513" indent="-466171" lvl="2">
              <a:lnSpc>
                <a:spcPts val="4534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Specialized tools</a:t>
            </a:r>
          </a:p>
          <a:p>
            <a:pPr algn="l" marL="1398513" indent="-466171" lvl="2">
              <a:lnSpc>
                <a:spcPts val="4534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Popular Dissasembler</a:t>
            </a:r>
          </a:p>
          <a:p>
            <a:pPr algn="l" marL="699257" indent="-349628" lvl="1">
              <a:lnSpc>
                <a:spcPts val="4534"/>
              </a:lnSpc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Dynamic Tools</a:t>
            </a:r>
          </a:p>
          <a:p>
            <a:pPr algn="l" marL="1398513" indent="-466171" lvl="2">
              <a:lnSpc>
                <a:spcPts val="4534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Gnome Debugging tool (GDB)</a:t>
            </a:r>
          </a:p>
          <a:p>
            <a:pPr algn="l" marL="1398513" indent="-466171" lvl="2">
              <a:lnSpc>
                <a:spcPts val="4534"/>
              </a:lnSpc>
              <a:spcBef>
                <a:spcPct val="0"/>
              </a:spcBef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Virtual Machine or Sandboxing tools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90482" y="8660782"/>
            <a:ext cx="597518" cy="5975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5316395"/>
            <a:ext cx="8261967" cy="4647357"/>
          </a:xfrm>
          <a:custGeom>
            <a:avLst/>
            <a:gdLst/>
            <a:ahLst/>
            <a:cxnLst/>
            <a:rect r="r" b="b" t="t" l="l"/>
            <a:pathLst>
              <a:path h="4647357" w="8261967">
                <a:moveTo>
                  <a:pt x="0" y="0"/>
                </a:moveTo>
                <a:lnTo>
                  <a:pt x="8261967" y="0"/>
                </a:lnTo>
                <a:lnTo>
                  <a:pt x="8261967" y="4647356"/>
                </a:lnTo>
                <a:lnTo>
                  <a:pt x="0" y="4647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3183" y="3775580"/>
            <a:ext cx="8006945" cy="4333759"/>
          </a:xfrm>
          <a:custGeom>
            <a:avLst/>
            <a:gdLst/>
            <a:ahLst/>
            <a:cxnLst/>
            <a:rect r="r" b="b" t="t" l="l"/>
            <a:pathLst>
              <a:path h="4333759" w="8006945">
                <a:moveTo>
                  <a:pt x="0" y="0"/>
                </a:moveTo>
                <a:lnTo>
                  <a:pt x="8006944" y="0"/>
                </a:lnTo>
                <a:lnTo>
                  <a:pt x="8006944" y="4333759"/>
                </a:lnTo>
                <a:lnTo>
                  <a:pt x="0" y="433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00879" y="560688"/>
            <a:ext cx="7348223" cy="4390563"/>
          </a:xfrm>
          <a:custGeom>
            <a:avLst/>
            <a:gdLst/>
            <a:ahLst/>
            <a:cxnLst/>
            <a:rect r="r" b="b" t="t" l="l"/>
            <a:pathLst>
              <a:path h="4390563" w="7348223">
                <a:moveTo>
                  <a:pt x="0" y="0"/>
                </a:moveTo>
                <a:lnTo>
                  <a:pt x="7348223" y="0"/>
                </a:lnTo>
                <a:lnTo>
                  <a:pt x="7348223" y="4390563"/>
                </a:lnTo>
                <a:lnTo>
                  <a:pt x="0" y="4390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857396" y="8851031"/>
            <a:ext cx="263689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06883" y="1218411"/>
            <a:ext cx="4569056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DISSASEMBLERS: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9598" y="3268215"/>
            <a:ext cx="273552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63F1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Ghidra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00879" y="320023"/>
            <a:ext cx="273552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 u="sng">
                <a:solidFill>
                  <a:srgbClr val="63F1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Binary ninja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4809030"/>
            <a:ext cx="273552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63F1F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Idra pro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90482" y="8660782"/>
            <a:ext cx="597518" cy="5975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857396" y="8851031"/>
            <a:ext cx="263689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0222" y="2841237"/>
            <a:ext cx="17227556" cy="412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1"/>
              </a:lnSpc>
              <a:spcBef>
                <a:spcPct val="0"/>
              </a:spcBef>
            </a:pPr>
            <a:r>
              <a:rPr lang="en-US" sz="23987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STATIC ANALYSIS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22860" y="3890083"/>
            <a:ext cx="8244346" cy="5915318"/>
          </a:xfrm>
          <a:custGeom>
            <a:avLst/>
            <a:gdLst/>
            <a:ahLst/>
            <a:cxnLst/>
            <a:rect r="r" b="b" t="t" l="l"/>
            <a:pathLst>
              <a:path h="5915318" w="8244346">
                <a:moveTo>
                  <a:pt x="0" y="0"/>
                </a:moveTo>
                <a:lnTo>
                  <a:pt x="8244346" y="0"/>
                </a:lnTo>
                <a:lnTo>
                  <a:pt x="8244346" y="5915318"/>
                </a:lnTo>
                <a:lnTo>
                  <a:pt x="0" y="591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6877" y="1145409"/>
            <a:ext cx="4569056" cy="18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LETS DOWNLOAD AN EXAMPLE: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06877" y="2962778"/>
            <a:ext cx="1219339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u="sng">
                <a:solidFill>
                  <a:srgbClr val="63F1F9"/>
                </a:solidFill>
                <a:latin typeface="Canva Sans"/>
                <a:ea typeface="Canva Sans"/>
                <a:cs typeface="Canva Sans"/>
                <a:sym typeface="Canva Sans"/>
              </a:rPr>
              <a:t>Go to 2025-Cybersecurity → GoCrackMe.zip</a:t>
            </a:r>
          </a:p>
          <a:p>
            <a:pPr algn="ctr">
              <a:lnSpc>
                <a:spcPts val="2659"/>
              </a:lnSpc>
            </a:pPr>
            <a:r>
              <a:rPr lang="en-US" sz="1899" u="sng">
                <a:solidFill>
                  <a:srgbClr val="63F1F9"/>
                </a:solidFill>
                <a:latin typeface="Canva Sans"/>
                <a:ea typeface="Canva Sans"/>
                <a:cs typeface="Canva Sans"/>
                <a:sym typeface="Canva Sans"/>
              </a:rPr>
              <a:t>PASSWORD: infected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6242" y="3557864"/>
            <a:ext cx="7728531" cy="6018593"/>
          </a:xfrm>
          <a:custGeom>
            <a:avLst/>
            <a:gdLst/>
            <a:ahLst/>
            <a:cxnLst/>
            <a:rect r="r" b="b" t="t" l="l"/>
            <a:pathLst>
              <a:path h="6018593" w="7728531">
                <a:moveTo>
                  <a:pt x="0" y="0"/>
                </a:moveTo>
                <a:lnTo>
                  <a:pt x="7728531" y="0"/>
                </a:lnTo>
                <a:lnTo>
                  <a:pt x="7728531" y="6018594"/>
                </a:lnTo>
                <a:lnTo>
                  <a:pt x="0" y="6018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87360" y="3662300"/>
            <a:ext cx="7963516" cy="5809722"/>
          </a:xfrm>
          <a:custGeom>
            <a:avLst/>
            <a:gdLst/>
            <a:ahLst/>
            <a:cxnLst/>
            <a:rect r="r" b="b" t="t" l="l"/>
            <a:pathLst>
              <a:path h="5809722" w="7963516">
                <a:moveTo>
                  <a:pt x="0" y="0"/>
                </a:moveTo>
                <a:lnTo>
                  <a:pt x="7963516" y="0"/>
                </a:lnTo>
                <a:lnTo>
                  <a:pt x="7963516" y="5809722"/>
                </a:lnTo>
                <a:lnTo>
                  <a:pt x="0" y="580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06877" y="1145409"/>
            <a:ext cx="4569056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DETECT IT EASY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06877" y="2352271"/>
            <a:ext cx="1219339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u="sng">
                <a:solidFill>
                  <a:srgbClr val="63F1F9"/>
                </a:solidFill>
                <a:latin typeface="Canva Sans"/>
                <a:ea typeface="Canva Sans"/>
                <a:cs typeface="Canva Sans"/>
                <a:sym typeface="Canva Sans"/>
              </a:rPr>
              <a:t>WINDOWS KEY → “store” → Microsoft Store → Search → “Detect it easy”</a:t>
            </a:r>
          </a:p>
          <a:p>
            <a:pPr algn="ctr">
              <a:lnSpc>
                <a:spcPts val="2659"/>
              </a:lnSpc>
            </a:pPr>
            <a:r>
              <a:rPr lang="en-US" sz="1899" u="sng">
                <a:solidFill>
                  <a:srgbClr val="63F1F9"/>
                </a:solidFill>
                <a:latin typeface="Canva Sans"/>
                <a:ea typeface="Canva Sans"/>
                <a:cs typeface="Canva Sans"/>
                <a:sym typeface="Canva Sans"/>
              </a:rPr>
              <a:t>Will allow us to get additional information about a binary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44643" y="1471375"/>
            <a:ext cx="10682547" cy="7344251"/>
          </a:xfrm>
          <a:custGeom>
            <a:avLst/>
            <a:gdLst/>
            <a:ahLst/>
            <a:cxnLst/>
            <a:rect r="r" b="b" t="t" l="l"/>
            <a:pathLst>
              <a:path h="7344251" w="10682547">
                <a:moveTo>
                  <a:pt x="0" y="0"/>
                </a:moveTo>
                <a:lnTo>
                  <a:pt x="10682547" y="0"/>
                </a:lnTo>
                <a:lnTo>
                  <a:pt x="10682547" y="7344250"/>
                </a:lnTo>
                <a:lnTo>
                  <a:pt x="0" y="7344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0801" y="1519000"/>
            <a:ext cx="4569056" cy="18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IDENTIFYING THE FILE TYPE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4629467"/>
            <a:ext cx="5606732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ELF </a:t>
            </a: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= Linux binary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Golang binary (Language)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with debug info, and not stripped of symbols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4159658"/>
            <a:ext cx="226314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can we learn?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77070" y="350253"/>
            <a:ext cx="8515835" cy="5865281"/>
          </a:xfrm>
          <a:custGeom>
            <a:avLst/>
            <a:gdLst/>
            <a:ahLst/>
            <a:cxnLst/>
            <a:rect r="r" b="b" t="t" l="l"/>
            <a:pathLst>
              <a:path h="5865281" w="8515835">
                <a:moveTo>
                  <a:pt x="0" y="0"/>
                </a:moveTo>
                <a:lnTo>
                  <a:pt x="8515834" y="0"/>
                </a:lnTo>
                <a:lnTo>
                  <a:pt x="8515834" y="5865281"/>
                </a:lnTo>
                <a:lnTo>
                  <a:pt x="0" y="5865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68865" y="6337635"/>
            <a:ext cx="9448328" cy="3814762"/>
          </a:xfrm>
          <a:custGeom>
            <a:avLst/>
            <a:gdLst/>
            <a:ahLst/>
            <a:cxnLst/>
            <a:rect r="r" b="b" t="t" l="l"/>
            <a:pathLst>
              <a:path h="3814762" w="9448328">
                <a:moveTo>
                  <a:pt x="0" y="0"/>
                </a:moveTo>
                <a:lnTo>
                  <a:pt x="9448328" y="0"/>
                </a:lnTo>
                <a:lnTo>
                  <a:pt x="9448328" y="3814763"/>
                </a:lnTo>
                <a:lnTo>
                  <a:pt x="0" y="3814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50801" y="1519000"/>
            <a:ext cx="4569056" cy="18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LOOKING AT STRINGS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2520" y="3815397"/>
            <a:ext cx="5045618" cy="4661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Quick win </a:t>
            </a: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Might have flag or important data not requiring you to look at code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 you investigate deeper this can help identify locations where a code might be.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 the right side hit “Advanced” → “Strings”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Try searching for: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“Flag”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“Password”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info? lets move onto taking it apart!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84348" y="4986529"/>
            <a:ext cx="11301259" cy="5071440"/>
          </a:xfrm>
          <a:custGeom>
            <a:avLst/>
            <a:gdLst/>
            <a:ahLst/>
            <a:cxnLst/>
            <a:rect r="r" b="b" t="t" l="l"/>
            <a:pathLst>
              <a:path h="5071440" w="11301259">
                <a:moveTo>
                  <a:pt x="0" y="0"/>
                </a:moveTo>
                <a:lnTo>
                  <a:pt x="11301259" y="0"/>
                </a:lnTo>
                <a:lnTo>
                  <a:pt x="11301259" y="5071440"/>
                </a:lnTo>
                <a:lnTo>
                  <a:pt x="0" y="5071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4929" y="835627"/>
            <a:ext cx="10832368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REGISTERING FOR BINARY NINJA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49565" y="2213511"/>
            <a:ext cx="6332053" cy="227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4"/>
              </a:lnSpc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Head to </a:t>
            </a:r>
            <a:r>
              <a:rPr lang="en-US" sz="3238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 tooltip="https://binary.ninja"/>
              </a:rPr>
              <a:t>https://binary.ninja/ </a:t>
            </a:r>
          </a:p>
          <a:p>
            <a:pPr algn="l">
              <a:lnSpc>
                <a:spcPts val="4534"/>
              </a:lnSpc>
            </a:pPr>
          </a:p>
          <a:p>
            <a:pPr algn="l">
              <a:lnSpc>
                <a:spcPts val="4534"/>
              </a:lnSpc>
              <a:spcBef>
                <a:spcPct val="0"/>
              </a:spcBef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Free → Try Cloud → Register an account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34978" y="2213511"/>
            <a:ext cx="6332053" cy="226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9257" indent="-349628" lvl="1">
              <a:lnSpc>
                <a:spcPts val="4534"/>
              </a:lnSpc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Set your password via the email sent</a:t>
            </a:r>
          </a:p>
          <a:p>
            <a:pPr algn="l" marL="699257" indent="-349628" lvl="1">
              <a:lnSpc>
                <a:spcPts val="4534"/>
              </a:lnSpc>
              <a:spcBef>
                <a:spcPct val="0"/>
              </a:spcBef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See the screen below when logged in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1968" y="2547591"/>
            <a:ext cx="5358832" cy="6158657"/>
          </a:xfrm>
          <a:custGeom>
            <a:avLst/>
            <a:gdLst/>
            <a:ahLst/>
            <a:cxnLst/>
            <a:rect r="r" b="b" t="t" l="l"/>
            <a:pathLst>
              <a:path h="6158657" w="5358832">
                <a:moveTo>
                  <a:pt x="0" y="0"/>
                </a:moveTo>
                <a:lnTo>
                  <a:pt x="5358832" y="0"/>
                </a:lnTo>
                <a:lnTo>
                  <a:pt x="5358832" y="6158658"/>
                </a:lnTo>
                <a:lnTo>
                  <a:pt x="0" y="6158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4929" y="835627"/>
            <a:ext cx="10832368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IMPORT CRACKME INTO BINARY NINJA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49565" y="2213511"/>
            <a:ext cx="6332053" cy="6842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4"/>
              </a:lnSpc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 cloud.binary.ninja</a:t>
            </a:r>
          </a:p>
          <a:p>
            <a:pPr algn="l">
              <a:lnSpc>
                <a:spcPts val="4534"/>
              </a:lnSpc>
            </a:pPr>
          </a:p>
          <a:p>
            <a:pPr algn="l">
              <a:lnSpc>
                <a:spcPts val="4534"/>
              </a:lnSpc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New Session → Choose file → Unzipped gocrackme1 file</a:t>
            </a:r>
          </a:p>
          <a:p>
            <a:pPr algn="l">
              <a:lnSpc>
                <a:spcPts val="4534"/>
              </a:lnSpc>
            </a:pPr>
          </a:p>
          <a:p>
            <a:pPr algn="l">
              <a:lnSpc>
                <a:spcPts val="4534"/>
              </a:lnSpc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Name will auto fill. </a:t>
            </a:r>
          </a:p>
          <a:p>
            <a:pPr algn="l">
              <a:lnSpc>
                <a:spcPts val="4534"/>
              </a:lnSpc>
            </a:pPr>
          </a:p>
          <a:p>
            <a:pPr algn="l">
              <a:lnSpc>
                <a:spcPts val="4534"/>
              </a:lnSpc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Click “Continue”</a:t>
            </a:r>
          </a:p>
          <a:p>
            <a:pPr algn="l">
              <a:lnSpc>
                <a:spcPts val="4534"/>
              </a:lnSpc>
            </a:pPr>
          </a:p>
          <a:p>
            <a:pPr algn="l">
              <a:lnSpc>
                <a:spcPts val="4534"/>
              </a:lnSpc>
              <a:spcBef>
                <a:spcPct val="0"/>
              </a:spcBef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Wait for the cloud machine to analyze your binary (Shouldn’t take long)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65015" y="1776697"/>
            <a:ext cx="5771904" cy="8100918"/>
          </a:xfrm>
          <a:custGeom>
            <a:avLst/>
            <a:gdLst/>
            <a:ahLst/>
            <a:cxnLst/>
            <a:rect r="r" b="b" t="t" l="l"/>
            <a:pathLst>
              <a:path h="8100918" w="5771904">
                <a:moveTo>
                  <a:pt x="0" y="0"/>
                </a:moveTo>
                <a:lnTo>
                  <a:pt x="5771904" y="0"/>
                </a:lnTo>
                <a:lnTo>
                  <a:pt x="5771904" y="8100918"/>
                </a:lnTo>
                <a:lnTo>
                  <a:pt x="0" y="81009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4929" y="835627"/>
            <a:ext cx="10832368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STRINGS, HEADERS, AND METADATA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9168" y="2162189"/>
            <a:ext cx="7189600" cy="616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4"/>
              </a:lnSpc>
            </a:pPr>
          </a:p>
          <a:p>
            <a:pPr algn="l" marL="634489" indent="-317244" lvl="1">
              <a:lnSpc>
                <a:spcPts val="4114"/>
              </a:lnSpc>
              <a:buFont typeface="Arial"/>
              <a:buChar char="•"/>
            </a:pPr>
            <a:r>
              <a:rPr lang="en-US" b="true" sz="29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Strings: </a:t>
            </a:r>
            <a:r>
              <a:rPr lang="en-US" sz="29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Any information that is plaintext in a single file, can contain sensitive information</a:t>
            </a:r>
          </a:p>
          <a:p>
            <a:pPr algn="l">
              <a:lnSpc>
                <a:spcPts val="4114"/>
              </a:lnSpc>
            </a:pPr>
          </a:p>
          <a:p>
            <a:pPr algn="l" marL="634489" indent="-317244" lvl="1">
              <a:lnSpc>
                <a:spcPts val="4114"/>
              </a:lnSpc>
              <a:buFont typeface="Arial"/>
              <a:buChar char="•"/>
            </a:pPr>
            <a:r>
              <a:rPr lang="en-US" b="true" sz="29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Headers: </a:t>
            </a:r>
            <a:r>
              <a:rPr lang="en-US" sz="29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within a file that could also contain additional sensitive data</a:t>
            </a:r>
          </a:p>
          <a:p>
            <a:pPr algn="l">
              <a:lnSpc>
                <a:spcPts val="4114"/>
              </a:lnSpc>
            </a:pPr>
          </a:p>
          <a:p>
            <a:pPr algn="l" marL="634489" indent="-317244" lvl="1">
              <a:lnSpc>
                <a:spcPts val="411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3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Metadata:</a:t>
            </a:r>
            <a:r>
              <a:rPr lang="en-US" sz="29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Like with images, this can store information about the binary, when it was compiled. who signed it, etc.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33839" y="412251"/>
            <a:ext cx="10329914" cy="3395959"/>
          </a:xfrm>
          <a:custGeom>
            <a:avLst/>
            <a:gdLst/>
            <a:ahLst/>
            <a:cxnLst/>
            <a:rect r="r" b="b" t="t" l="l"/>
            <a:pathLst>
              <a:path h="3395959" w="10329914">
                <a:moveTo>
                  <a:pt x="0" y="0"/>
                </a:moveTo>
                <a:lnTo>
                  <a:pt x="10329914" y="0"/>
                </a:lnTo>
                <a:lnTo>
                  <a:pt x="10329914" y="3395959"/>
                </a:lnTo>
                <a:lnTo>
                  <a:pt x="0" y="3395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33839" y="5143500"/>
            <a:ext cx="9077190" cy="3664915"/>
          </a:xfrm>
          <a:custGeom>
            <a:avLst/>
            <a:gdLst/>
            <a:ahLst/>
            <a:cxnLst/>
            <a:rect r="r" b="b" t="t" l="l"/>
            <a:pathLst>
              <a:path h="3664915" w="9077190">
                <a:moveTo>
                  <a:pt x="0" y="0"/>
                </a:moveTo>
                <a:lnTo>
                  <a:pt x="9077190" y="0"/>
                </a:lnTo>
                <a:lnTo>
                  <a:pt x="9077190" y="3664915"/>
                </a:lnTo>
                <a:lnTo>
                  <a:pt x="0" y="3664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8127" y="459876"/>
            <a:ext cx="6085674" cy="18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IDENTIFYING PACKING AND OBFUSCATION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4974" y="2662421"/>
            <a:ext cx="6912035" cy="584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30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Many attackers will use tools like:</a:t>
            </a:r>
          </a:p>
          <a:p>
            <a:pPr algn="l" marL="656078" indent="-328039" lvl="1">
              <a:lnSpc>
                <a:spcPts val="4254"/>
              </a:lnSpc>
              <a:buFont typeface="Arial"/>
              <a:buChar char="•"/>
            </a:pPr>
            <a:r>
              <a:rPr lang="en-US" sz="30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Anti-Debuggers</a:t>
            </a:r>
          </a:p>
          <a:p>
            <a:pPr algn="l" marL="656078" indent="-328039" lvl="1">
              <a:lnSpc>
                <a:spcPts val="4254"/>
              </a:lnSpc>
              <a:buFont typeface="Arial"/>
              <a:buChar char="•"/>
            </a:pPr>
            <a:r>
              <a:rPr lang="en-US" sz="30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Anti-Analysis </a:t>
            </a:r>
          </a:p>
          <a:p>
            <a:pPr algn="l" marL="1312156" indent="-437385" lvl="2">
              <a:lnSpc>
                <a:spcPts val="4254"/>
              </a:lnSpc>
              <a:buFont typeface="Arial"/>
              <a:buChar char="⚬"/>
            </a:pPr>
            <a:r>
              <a:rPr lang="en-US" sz="30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Attempt to detect if running in a virtual machine </a:t>
            </a:r>
          </a:p>
          <a:p>
            <a:pPr algn="l">
              <a:lnSpc>
                <a:spcPts val="4254"/>
              </a:lnSpc>
            </a:pPr>
            <a:r>
              <a:rPr lang="en-US" sz="303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How do we evade this?</a:t>
            </a:r>
          </a:p>
          <a:p>
            <a:pPr algn="l" marL="656078" indent="-328039" lvl="1">
              <a:lnSpc>
                <a:spcPts val="4254"/>
              </a:lnSpc>
              <a:buFont typeface="Arial"/>
              <a:buChar char="•"/>
            </a:pPr>
            <a:r>
              <a:rPr lang="en-US" sz="30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Tools to take the code and pretty it up </a:t>
            </a:r>
          </a:p>
          <a:p>
            <a:pPr algn="l" marL="656078" indent="-328039" lvl="1">
              <a:lnSpc>
                <a:spcPts val="4254"/>
              </a:lnSpc>
              <a:buFont typeface="Arial"/>
              <a:buChar char="•"/>
            </a:pPr>
            <a:r>
              <a:rPr lang="en-US" sz="30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AI!</a:t>
            </a:r>
          </a:p>
          <a:p>
            <a:pPr algn="l" marL="656078" indent="-328039" lvl="1">
              <a:lnSpc>
                <a:spcPts val="4254"/>
              </a:lnSpc>
              <a:spcBef>
                <a:spcPct val="0"/>
              </a:spcBef>
              <a:buFont typeface="Arial"/>
              <a:buChar char="•"/>
            </a:pPr>
            <a:r>
              <a:rPr lang="en-US" sz="30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Make our VMs look as “real” as possible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33839" y="4177110"/>
            <a:ext cx="6332053" cy="56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4"/>
              </a:lnSpc>
              <a:spcBef>
                <a:spcPct val="0"/>
              </a:spcBef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Original vs Obfuscated:</a:t>
            </a:r>
          </a:p>
        </p:txBody>
      </p:sp>
      <p:sp>
        <p:nvSpPr>
          <p:cNvPr name="AutoShape 7" id="7"/>
          <p:cNvSpPr/>
          <p:nvPr/>
        </p:nvSpPr>
        <p:spPr>
          <a:xfrm>
            <a:off x="7335371" y="0"/>
            <a:ext cx="0" cy="1048547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90482" y="8660782"/>
            <a:ext cx="597518" cy="5975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857396" y="8851031"/>
            <a:ext cx="263689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0222" y="2888862"/>
            <a:ext cx="17227556" cy="377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9"/>
              </a:lnSpc>
              <a:spcBef>
                <a:spcPct val="0"/>
              </a:spcBef>
            </a:pPr>
            <a:r>
              <a:rPr lang="en-US" sz="219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FLAG TIME.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90482" y="8660782"/>
            <a:ext cx="597518" cy="5975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857396" y="8851031"/>
            <a:ext cx="263689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0222" y="2888862"/>
            <a:ext cx="17227556" cy="377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9"/>
              </a:lnSpc>
              <a:spcBef>
                <a:spcPct val="0"/>
              </a:spcBef>
            </a:pPr>
            <a:r>
              <a:rPr lang="en-US" sz="219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DYNAMIC ANALYSIS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4929" y="835627"/>
            <a:ext cx="10832368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TOOLS FOR DYNAMIC ANANLYSIS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32379"/>
            <a:ext cx="8774082" cy="34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9257" indent="-349628" lvl="1">
              <a:lnSpc>
                <a:spcPts val="4534"/>
              </a:lnSpc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Just run it! </a:t>
            </a:r>
          </a:p>
          <a:p>
            <a:pPr algn="l" marL="699257" indent="-349628" lvl="1">
              <a:lnSpc>
                <a:spcPts val="4534"/>
              </a:lnSpc>
              <a:spcBef>
                <a:spcPct val="0"/>
              </a:spcBef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Debugging tools can allow you to break down syscalls and show you what the application itself is doing. Breakpoints allow you to step through code as you analyze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9168" y="2571381"/>
            <a:ext cx="8779752" cy="494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7667" indent="-338834" lvl="1">
              <a:lnSpc>
                <a:spcPts val="4394"/>
              </a:lnSpc>
              <a:buFont typeface="Arial"/>
              <a:buChar char="•"/>
            </a:pPr>
            <a:r>
              <a:rPr lang="en-US" sz="3138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2" tooltip="https://app.any.run/tasks/7c67de98-bc5a-412b-afaa-44bf0bd4d28b"/>
              </a:rPr>
              <a:t>Sandbox tool: </a:t>
            </a:r>
          </a:p>
          <a:p>
            <a:pPr algn="l" marL="1355335" indent="-451778" lvl="2">
              <a:lnSpc>
                <a:spcPts val="4394"/>
              </a:lnSpc>
              <a:buFont typeface="Arial"/>
              <a:buChar char="⚬"/>
            </a:pPr>
            <a:r>
              <a:rPr lang="en-US" sz="3138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 tooltip="https://app.any.run/tasks/7c67de98-bc5a-412b-afaa-44bf0bd4d28b"/>
              </a:rPr>
              <a:t>ANY.RUN </a:t>
            </a:r>
          </a:p>
          <a:p>
            <a:pPr algn="l" marL="677667" indent="-338834" lvl="1">
              <a:lnSpc>
                <a:spcPts val="4394"/>
              </a:lnSpc>
              <a:buFont typeface="Arial"/>
              <a:buChar char="•"/>
            </a:pPr>
            <a:r>
              <a:rPr lang="en-US" sz="3138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4" tooltip="https://app.any.run/tasks/7c67de98-bc5a-412b-afaa-44bf0bd4d28b"/>
              </a:rPr>
              <a:t>Virtual Machines</a:t>
            </a:r>
          </a:p>
          <a:p>
            <a:pPr algn="l" marL="677667" indent="-338834" lvl="1">
              <a:lnSpc>
                <a:spcPts val="4394"/>
              </a:lnSpc>
              <a:buFont typeface="Arial"/>
              <a:buChar char="•"/>
            </a:pPr>
            <a:r>
              <a:rPr lang="en-US" sz="3138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5" tooltip="https://app.any.run/tasks/7c67de98-bc5a-412b-afaa-44bf0bd4d28b"/>
              </a:rPr>
              <a:t>Key considerations</a:t>
            </a:r>
          </a:p>
          <a:p>
            <a:pPr algn="l" marL="1355335" indent="-451778" lvl="2">
              <a:lnSpc>
                <a:spcPts val="4394"/>
              </a:lnSpc>
              <a:buFont typeface="Arial"/>
              <a:buChar char="⚬"/>
            </a:pPr>
            <a:r>
              <a:rPr lang="en-US" sz="3138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6" tooltip="https://app.any.run/tasks/7c67de98-bc5a-412b-afaa-44bf0bd4d28b"/>
              </a:rPr>
              <a:t>Isolation from the host. </a:t>
            </a:r>
          </a:p>
          <a:p>
            <a:pPr algn="l" marL="1355335" indent="-451778" lvl="2">
              <a:lnSpc>
                <a:spcPts val="4394"/>
              </a:lnSpc>
              <a:buFont typeface="Arial"/>
              <a:buChar char="⚬"/>
            </a:pPr>
            <a:r>
              <a:rPr lang="en-US" sz="3138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7" tooltip="https://app.any.run/tasks/7c67de98-bc5a-412b-afaa-44bf0bd4d28b"/>
              </a:rPr>
              <a:t>acts like a true system would</a:t>
            </a:r>
          </a:p>
          <a:p>
            <a:pPr algn="l">
              <a:lnSpc>
                <a:spcPts val="4394"/>
              </a:lnSpc>
            </a:pPr>
          </a:p>
          <a:p>
            <a:pPr algn="l">
              <a:lnSpc>
                <a:spcPts val="4394"/>
              </a:lnSpc>
              <a:spcBef>
                <a:spcPct val="0"/>
              </a:spcBef>
            </a:pPr>
            <a:r>
              <a:rPr lang="en-US" sz="3138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8" tooltip="https://app.any.run/tasks/7c67de98-bc5a-412b-afaa-44bf0bd4d28b"/>
              </a:rPr>
              <a:t>https://app.any.run/tasks/7c67de98-bc5a-412b-afaa-44bf0bd4d28b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843910" y="2702796"/>
            <a:ext cx="8154618" cy="5932485"/>
          </a:xfrm>
          <a:custGeom>
            <a:avLst/>
            <a:gdLst/>
            <a:ahLst/>
            <a:cxnLst/>
            <a:rect r="r" b="b" t="t" l="l"/>
            <a:pathLst>
              <a:path h="5932485" w="8154618">
                <a:moveTo>
                  <a:pt x="0" y="0"/>
                </a:moveTo>
                <a:lnTo>
                  <a:pt x="8154619" y="0"/>
                </a:lnTo>
                <a:lnTo>
                  <a:pt x="8154619" y="5932485"/>
                </a:lnTo>
                <a:lnTo>
                  <a:pt x="0" y="59324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74929" y="835627"/>
            <a:ext cx="10832368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SANDBOX AND VIRTUAL MACHINE SETUP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90482" y="8660782"/>
            <a:ext cx="597518" cy="5975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857396" y="8851031"/>
            <a:ext cx="263689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0222" y="2888862"/>
            <a:ext cx="17227556" cy="377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9"/>
              </a:lnSpc>
              <a:spcBef>
                <a:spcPct val="0"/>
              </a:spcBef>
            </a:pPr>
            <a:r>
              <a:rPr lang="en-US" sz="219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WHATS NEXT?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4929" y="2041378"/>
            <a:ext cx="10832368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ADVANCED TOPICS YOU CAN RESEARCH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4929" y="3373392"/>
            <a:ext cx="9444038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3FBFC"/>
                </a:solidFill>
                <a:latin typeface="Canva Sans"/>
                <a:ea typeface="Canva Sans"/>
                <a:cs typeface="Canva Sans"/>
                <a:sym typeface="Canva Sans"/>
              </a:rPr>
              <a:t>Unpacking and Obfuscation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3FBFC"/>
                </a:solidFill>
                <a:latin typeface="Canva Sans"/>
                <a:ea typeface="Canva Sans"/>
                <a:cs typeface="Canva Sans"/>
                <a:sym typeface="Canva Sans"/>
              </a:rPr>
              <a:t>Anti Analysis Techniques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3FBFC"/>
                </a:solidFill>
                <a:latin typeface="Canva Sans"/>
                <a:ea typeface="Canva Sans"/>
                <a:cs typeface="Canva Sans"/>
                <a:sym typeface="Canva Sans"/>
              </a:rPr>
              <a:t>Code Reconstruction and documentation 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3FBFC"/>
                </a:solidFill>
                <a:latin typeface="Canva Sans"/>
                <a:ea typeface="Canva Sans"/>
                <a:cs typeface="Canva Sans"/>
                <a:sym typeface="Canva Sans"/>
              </a:rPr>
              <a:t>Extracting IOCs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9287" y="5677033"/>
            <a:ext cx="4243184" cy="3646486"/>
            <a:chOff x="0" y="0"/>
            <a:chExt cx="8128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42378" y="5677033"/>
            <a:ext cx="4243184" cy="3646486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74476" y="5044346"/>
            <a:ext cx="14535897" cy="4911860"/>
            <a:chOff x="0" y="0"/>
            <a:chExt cx="2067104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7104" cy="698500"/>
            </a:xfrm>
            <a:custGeom>
              <a:avLst/>
              <a:gdLst/>
              <a:ahLst/>
              <a:cxnLst/>
              <a:rect r="r" b="b" t="t" l="l"/>
              <a:pathLst>
                <a:path h="698500" w="2067104">
                  <a:moveTo>
                    <a:pt x="2067104" y="349250"/>
                  </a:moveTo>
                  <a:lnTo>
                    <a:pt x="1863904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863904" y="0"/>
                  </a:lnTo>
                  <a:lnTo>
                    <a:pt x="2067104" y="349250"/>
                  </a:lnTo>
                  <a:close/>
                </a:path>
              </a:pathLst>
            </a:custGeom>
            <a:blipFill>
              <a:blip r:embed="rId2"/>
              <a:stretch>
                <a:fillRect l="0" t="-23865" r="0" b="-4259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42378" y="2161516"/>
            <a:ext cx="14177962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3FBFC"/>
                </a:solidFill>
                <a:latin typeface="Canva Sans"/>
                <a:ea typeface="Canva Sans"/>
                <a:cs typeface="Canva Sans"/>
                <a:sym typeface="Canva Sans"/>
              </a:rPr>
              <a:t>Investigating and documenting a file on any.run</a:t>
            </a:r>
          </a:p>
          <a:p>
            <a:pPr algn="just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3FBFC"/>
                </a:solidFill>
                <a:latin typeface="Canva Sans"/>
                <a:ea typeface="Canva Sans"/>
                <a:cs typeface="Canva Sans"/>
                <a:sym typeface="Canva Sans"/>
              </a:rPr>
              <a:t>Register with you missouristate.edu email to be able to use it!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3FBFC"/>
                </a:solidFill>
                <a:latin typeface="Canva Sans"/>
                <a:ea typeface="Canva Sans"/>
                <a:cs typeface="Canva Sans"/>
                <a:sym typeface="Canva Sans"/>
              </a:rPr>
              <a:t>Extracting a website or IP from a real malware sample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3FBFC"/>
                </a:solidFill>
                <a:latin typeface="Canva Sans"/>
                <a:ea typeface="Canva Sans"/>
                <a:cs typeface="Canva Sans"/>
                <a:sym typeface="Canva Sans"/>
              </a:rPr>
              <a:t>Capture the flag challenges (of course)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186441"/>
            <a:ext cx="10832368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PROJECTS RELATED TO THIS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4929" y="835627"/>
            <a:ext cx="10832368" cy="18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OVERVIEW: WHAT WE LEARNED FROM THE SAMPLE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07040" y="3263403"/>
            <a:ext cx="13169734" cy="2840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9257" indent="-349628" lvl="1">
              <a:lnSpc>
                <a:spcPts val="4534"/>
              </a:lnSpc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What is the binary?</a:t>
            </a:r>
          </a:p>
          <a:p>
            <a:pPr algn="l" marL="1398513" indent="-466171" lvl="2">
              <a:lnSpc>
                <a:spcPts val="4534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Linux binary compiled in golang</a:t>
            </a:r>
          </a:p>
          <a:p>
            <a:pPr algn="l" marL="1398513" indent="-466171" lvl="2">
              <a:lnSpc>
                <a:spcPts val="4534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Running takes a value and XOR it to get the flag</a:t>
            </a:r>
          </a:p>
          <a:p>
            <a:pPr algn="l" marL="1398513" indent="-466171" lvl="2">
              <a:lnSpc>
                <a:spcPts val="4534"/>
              </a:lnSpc>
              <a:spcBef>
                <a:spcPct val="0"/>
              </a:spcBef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If statement checks a condition and will return “Access Denied” be default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9491411" y="2377916"/>
            <a:ext cx="7115424" cy="7115424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637212"/>
            <a:ext cx="10832368" cy="18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HOW DO WE MAKE ACTIONABLE SECURITY OUT OF REVERSE ENGINEERING?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6580" y="2912361"/>
            <a:ext cx="6332053" cy="683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9257" indent="-349628" lvl="1">
              <a:lnSpc>
                <a:spcPts val="4534"/>
              </a:lnSpc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Look for specific types of indentifiers</a:t>
            </a:r>
          </a:p>
          <a:p>
            <a:pPr algn="l" marL="1398513" indent="-466171" lvl="2">
              <a:lnSpc>
                <a:spcPts val="4534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Web domains (strings)</a:t>
            </a:r>
          </a:p>
          <a:p>
            <a:pPr algn="l" marL="1398513" indent="-466171" lvl="2">
              <a:lnSpc>
                <a:spcPts val="4534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Unique bits of code</a:t>
            </a:r>
          </a:p>
          <a:p>
            <a:pPr algn="l" marL="1398513" indent="-466171" lvl="2">
              <a:lnSpc>
                <a:spcPts val="4534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IP Addresses </a:t>
            </a:r>
          </a:p>
          <a:p>
            <a:pPr algn="l" marL="1398513" indent="-466171" lvl="2">
              <a:lnSpc>
                <a:spcPts val="4534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File hashes </a:t>
            </a:r>
          </a:p>
          <a:p>
            <a:pPr algn="l">
              <a:lnSpc>
                <a:spcPts val="4534"/>
              </a:lnSpc>
            </a:pPr>
          </a:p>
          <a:p>
            <a:pPr algn="l">
              <a:lnSpc>
                <a:spcPts val="4534"/>
              </a:lnSpc>
            </a:pPr>
          </a:p>
          <a:p>
            <a:pPr algn="l">
              <a:lnSpc>
                <a:spcPts val="4534"/>
              </a:lnSpc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Then...</a:t>
            </a:r>
          </a:p>
          <a:p>
            <a:pPr algn="l" marL="699257" indent="-349628" lvl="1">
              <a:lnSpc>
                <a:spcPts val="4534"/>
              </a:lnSpc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Block it in the firewall</a:t>
            </a:r>
          </a:p>
          <a:p>
            <a:pPr algn="l" marL="699257" indent="-349628" lvl="1">
              <a:lnSpc>
                <a:spcPts val="4534"/>
              </a:lnSpc>
              <a:spcBef>
                <a:spcPct val="0"/>
              </a:spcBef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Create a detection for your EDR or antivirus!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90482" y="8660782"/>
            <a:ext cx="597518" cy="5975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857396" y="8851031"/>
            <a:ext cx="263689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0222" y="2974587"/>
            <a:ext cx="17227556" cy="308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9"/>
              </a:lnSpc>
              <a:spcBef>
                <a:spcPct val="0"/>
              </a:spcBef>
            </a:pPr>
            <a:r>
              <a:rPr lang="en-US" sz="18000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CONTINUED LEARNING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20956" t="111" r="23690" b="1483"/>
          <a:stretch>
            <a:fillRect/>
          </a:stretch>
        </p:blipFill>
        <p:spPr>
          <a:xfrm flipH="false" flipV="false" rot="0">
            <a:off x="10114690" y="2387204"/>
            <a:ext cx="5915773" cy="591577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674929" y="835627"/>
            <a:ext cx="10832368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BEST PRACTICES WITH MALWARE SAMPLES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8176" y="3115621"/>
            <a:ext cx="6332053" cy="398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9257" indent="-349628" lvl="1">
              <a:lnSpc>
                <a:spcPts val="4534"/>
              </a:lnSpc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SAFETY</a:t>
            </a:r>
          </a:p>
          <a:p>
            <a:pPr algn="l" marL="1398513" indent="-466171" lvl="2">
              <a:lnSpc>
                <a:spcPts val="4534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Never EVER run on your computer</a:t>
            </a:r>
          </a:p>
          <a:p>
            <a:pPr algn="l" marL="1398513" indent="-466171" lvl="2">
              <a:lnSpc>
                <a:spcPts val="4534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Network Isolated Systems</a:t>
            </a:r>
          </a:p>
          <a:p>
            <a:pPr algn="l" marL="1398513" indent="-466171" lvl="2">
              <a:lnSpc>
                <a:spcPts val="4534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Beware VM escapes</a:t>
            </a:r>
          </a:p>
          <a:p>
            <a:pPr algn="l">
              <a:lnSpc>
                <a:spcPts val="4534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22172" y="5632906"/>
            <a:ext cx="9182734" cy="4384755"/>
          </a:xfrm>
          <a:custGeom>
            <a:avLst/>
            <a:gdLst/>
            <a:ahLst/>
            <a:cxnLst/>
            <a:rect r="r" b="b" t="t" l="l"/>
            <a:pathLst>
              <a:path h="4384755" w="9182734">
                <a:moveTo>
                  <a:pt x="0" y="0"/>
                </a:moveTo>
                <a:lnTo>
                  <a:pt x="9182733" y="0"/>
                </a:lnTo>
                <a:lnTo>
                  <a:pt x="9182733" y="4384756"/>
                </a:lnTo>
                <a:lnTo>
                  <a:pt x="0" y="4384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4929" y="835627"/>
            <a:ext cx="10832368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4"/>
              </a:lnSpc>
            </a:pPr>
            <a:r>
              <a:rPr lang="en-US" sz="6499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RESOURCES AND COMMUNITIES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67911"/>
            <a:ext cx="13108684" cy="2840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9257" indent="-349628" lvl="1">
              <a:lnSpc>
                <a:spcPts val="4534"/>
              </a:lnSpc>
              <a:buFont typeface="Arial"/>
              <a:buChar char="•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 will find the following in the repo for the week:</a:t>
            </a:r>
          </a:p>
          <a:p>
            <a:pPr algn="l" marL="1398513" indent="-466171" lvl="2">
              <a:lnSpc>
                <a:spcPts val="4534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Creating a proper analysis VM + Remnux VM</a:t>
            </a:r>
          </a:p>
          <a:p>
            <a:pPr algn="l" marL="1398513" indent="-466171" lvl="2">
              <a:lnSpc>
                <a:spcPts val="4534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sample we went over today</a:t>
            </a:r>
          </a:p>
          <a:p>
            <a:pPr algn="l" marL="1398513" indent="-466171" lvl="2">
              <a:lnSpc>
                <a:spcPts val="4534"/>
              </a:lnSpc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Videos on analyzing real malware samples step by step</a:t>
            </a:r>
          </a:p>
          <a:p>
            <a:pPr algn="l" marL="1398513" indent="-466171" lvl="2">
              <a:lnSpc>
                <a:spcPts val="4534"/>
              </a:lnSpc>
              <a:spcBef>
                <a:spcPct val="0"/>
              </a:spcBef>
              <a:buFont typeface="Arial"/>
              <a:buChar char="⚬"/>
            </a:pPr>
            <a:r>
              <a:rPr lang="en-US" sz="323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Courses for malware analysis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90482" y="8660782"/>
            <a:ext cx="597518" cy="5975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68F8FF">
                    <a:alpha val="100000"/>
                  </a:srgbClr>
                </a:gs>
                <a:gs pos="100000">
                  <a:srgbClr val="00748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633764" y="1172559"/>
            <a:ext cx="4625536" cy="82296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857396" y="8851031"/>
            <a:ext cx="263689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0238" y="2841237"/>
            <a:ext cx="10857180" cy="412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1"/>
              </a:lnSpc>
              <a:spcBef>
                <a:spcPct val="0"/>
              </a:spcBef>
            </a:pPr>
            <a:r>
              <a:rPr lang="en-US" sz="23987">
                <a:solidFill>
                  <a:srgbClr val="63F1F9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THANK YOU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DAGZlj5WKes</dc:identifier>
  <dcterms:modified xsi:type="dcterms:W3CDTF">2011-08-01T06:04:30Z</dcterms:modified>
  <cp:revision>1</cp:revision>
  <dc:title>Reverse engineering malware</dc:title>
</cp:coreProperties>
</file>