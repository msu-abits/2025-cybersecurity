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ress Start 2P" charset="1" panose="00000500000000000000"/>
      <p:regular r:id="rId22"/>
    </p:embeddedFont>
    <p:embeddedFont>
      <p:font typeface="Roboto" charset="1" panose="02000000000000000000"/>
      <p:regular r:id="rId23"/>
    </p:embeddedFont>
    <p:embeddedFont>
      <p:font typeface="DM Sans" charset="1" panose="00000000000000000000"/>
      <p:regular r:id="rId24"/>
    </p:embeddedFont>
    <p:embeddedFont>
      <p:font typeface="DM Sans Bold" charset="1" panose="00000000000000000000"/>
      <p:regular r:id="rId25"/>
    </p:embeddedFont>
    <p:embeddedFont>
      <p:font typeface="Canva Sans" charset="1" panose="020B0503030501040103"/>
      <p:regular r:id="rId26"/>
    </p:embeddedFont>
    <p:embeddedFont>
      <p:font typeface="Roboto Bold" charset="1" panose="02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18" Target="../media/image20.png" Type="http://schemas.openxmlformats.org/officeDocument/2006/relationships/image"/><Relationship Id="rId19" Target="../media/image21.svg" Type="http://schemas.openxmlformats.org/officeDocument/2006/relationships/image"/><Relationship Id="rId2" Target="../media/image1.png" Type="http://schemas.openxmlformats.org/officeDocument/2006/relationships/image"/><Relationship Id="rId20" Target="../media/image22.png" Type="http://schemas.openxmlformats.org/officeDocument/2006/relationships/image"/><Relationship Id="rId21" Target="../media/image23.svg" Type="http://schemas.openxmlformats.org/officeDocument/2006/relationships/image"/><Relationship Id="rId22" Target="../media/image24.png" Type="http://schemas.openxmlformats.org/officeDocument/2006/relationships/image"/><Relationship Id="rId23" Target="../media/image25.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media/image1.png" Type="http://schemas.openxmlformats.org/officeDocument/2006/relationships/image"/><Relationship Id="rId20" Target="../media/image34.png" Type="http://schemas.openxmlformats.org/officeDocument/2006/relationships/image"/><Relationship Id="rId21" Target="../media/image35.sv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14" Target="../media/image16.png" Type="http://schemas.openxmlformats.org/officeDocument/2006/relationships/image"/><Relationship Id="rId15" Target="../media/image17.svg" Type="http://schemas.openxmlformats.org/officeDocument/2006/relationships/image"/><Relationship Id="rId16" Target="../media/image36.png" Type="http://schemas.openxmlformats.org/officeDocument/2006/relationships/image"/><Relationship Id="rId17" Target="../media/image37.svg" Type="http://schemas.openxmlformats.org/officeDocument/2006/relationships/image"/><Relationship Id="rId18" Target="../media/image38.png" Type="http://schemas.openxmlformats.org/officeDocument/2006/relationships/image"/><Relationship Id="rId19" Target="../media/image3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2.png" Type="http://schemas.openxmlformats.org/officeDocument/2006/relationships/image"/><Relationship Id="rId15" Target="../media/image23.svg" Type="http://schemas.openxmlformats.org/officeDocument/2006/relationships/image"/><Relationship Id="rId16" Target="../media/image40.png" Type="http://schemas.openxmlformats.org/officeDocument/2006/relationships/image"/><Relationship Id="rId17" Target="../media/image4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14" Target="../media/image42.png" Type="http://schemas.openxmlformats.org/officeDocument/2006/relationships/image"/><Relationship Id="rId15" Target="../media/image43.svg" Type="http://schemas.openxmlformats.org/officeDocument/2006/relationships/image"/><Relationship Id="rId16" Target="../media/image44.png" Type="http://schemas.openxmlformats.org/officeDocument/2006/relationships/image"/><Relationship Id="rId17" Target="../media/image4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png" Type="http://schemas.openxmlformats.org/officeDocument/2006/relationships/image"/><Relationship Id="rId11" Target="../media/image53.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34.png" Type="http://schemas.openxmlformats.org/officeDocument/2006/relationships/image"/><Relationship Id="rId15" Target="../media/image3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58.png" Type="http://schemas.openxmlformats.org/officeDocument/2006/relationships/image"/><Relationship Id="rId13" Target="../media/image59.svg" Type="http://schemas.openxmlformats.org/officeDocument/2006/relationships/image"/><Relationship Id="rId14" Target="../media/image60.png" Type="http://schemas.openxmlformats.org/officeDocument/2006/relationships/image"/><Relationship Id="rId15" Target="../media/image61.svg" Type="http://schemas.openxmlformats.org/officeDocument/2006/relationships/image"/><Relationship Id="rId16" Target="../media/image6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 Id="rId6" Target="../media/image65.png" Type="http://schemas.openxmlformats.org/officeDocument/2006/relationships/image"/><Relationship Id="rId7" Target="../media/image6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55820" y="7721836"/>
            <a:ext cx="4475679" cy="1155539"/>
          </a:xfrm>
          <a:custGeom>
            <a:avLst/>
            <a:gdLst/>
            <a:ahLst/>
            <a:cxnLst/>
            <a:rect r="r" b="b" t="t" l="l"/>
            <a:pathLst>
              <a:path h="1155539" w="4475679">
                <a:moveTo>
                  <a:pt x="0" y="0"/>
                </a:moveTo>
                <a:lnTo>
                  <a:pt x="4475678" y="0"/>
                </a:lnTo>
                <a:lnTo>
                  <a:pt x="4475678"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40683" y="7721836"/>
            <a:ext cx="4475679" cy="1155539"/>
          </a:xfrm>
          <a:custGeom>
            <a:avLst/>
            <a:gdLst/>
            <a:ahLst/>
            <a:cxnLst/>
            <a:rect r="r" b="b" t="t" l="l"/>
            <a:pathLst>
              <a:path h="1155539" w="4475679">
                <a:moveTo>
                  <a:pt x="0" y="0"/>
                </a:moveTo>
                <a:lnTo>
                  <a:pt x="4475679" y="0"/>
                </a:lnTo>
                <a:lnTo>
                  <a:pt x="4475679"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3424708" y="7836224"/>
            <a:ext cx="3226307" cy="1531029"/>
          </a:xfrm>
          <a:custGeom>
            <a:avLst/>
            <a:gdLst/>
            <a:ahLst/>
            <a:cxnLst/>
            <a:rect r="r" b="b" t="t" l="l"/>
            <a:pathLst>
              <a:path h="1531029" w="3226307">
                <a:moveTo>
                  <a:pt x="0" y="0"/>
                </a:moveTo>
                <a:lnTo>
                  <a:pt x="3226308" y="0"/>
                </a:lnTo>
                <a:lnTo>
                  <a:pt x="3226308" y="1531030"/>
                </a:lnTo>
                <a:lnTo>
                  <a:pt x="0" y="15310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8" id="18"/>
          <p:cNvSpPr txBox="true"/>
          <p:nvPr/>
        </p:nvSpPr>
        <p:spPr>
          <a:xfrm rot="0">
            <a:off x="2509611" y="2850003"/>
            <a:ext cx="12817229" cy="2797174"/>
          </a:xfrm>
          <a:prstGeom prst="rect">
            <a:avLst/>
          </a:prstGeom>
        </p:spPr>
        <p:txBody>
          <a:bodyPr anchor="t" rtlCol="false" tIns="0" lIns="0" bIns="0" rIns="0">
            <a:spAutoFit/>
          </a:bodyPr>
          <a:lstStyle/>
          <a:p>
            <a:pPr algn="ctr">
              <a:lnSpc>
                <a:spcPts val="11200"/>
              </a:lnSpc>
            </a:pPr>
            <a:r>
              <a:rPr lang="en-US" sz="8000">
                <a:solidFill>
                  <a:srgbClr val="FFFFFF"/>
                </a:solidFill>
                <a:latin typeface="Press Start 2P"/>
                <a:ea typeface="Press Start 2P"/>
                <a:cs typeface="Press Start 2P"/>
                <a:sym typeface="Press Start 2P"/>
              </a:rPr>
              <a:t>PRE SHOW:</a:t>
            </a:r>
          </a:p>
          <a:p>
            <a:pPr algn="ctr" marL="0" indent="0" lvl="0">
              <a:lnSpc>
                <a:spcPts val="11200"/>
              </a:lnSpc>
              <a:spcBef>
                <a:spcPct val="0"/>
              </a:spcBef>
            </a:pPr>
            <a:r>
              <a:rPr lang="en-US" sz="8000">
                <a:solidFill>
                  <a:srgbClr val="FFFFFF"/>
                </a:solidFill>
                <a:latin typeface="Press Start 2P"/>
                <a:ea typeface="Press Start 2P"/>
                <a:cs typeface="Press Start 2P"/>
                <a:sym typeface="Press Start 2P"/>
              </a:rPr>
              <a:t>CYBERWARFARE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55820" y="7721836"/>
            <a:ext cx="4475679" cy="1155539"/>
          </a:xfrm>
          <a:custGeom>
            <a:avLst/>
            <a:gdLst/>
            <a:ahLst/>
            <a:cxnLst/>
            <a:rect r="r" b="b" t="t" l="l"/>
            <a:pathLst>
              <a:path h="1155539" w="4475679">
                <a:moveTo>
                  <a:pt x="0" y="0"/>
                </a:moveTo>
                <a:lnTo>
                  <a:pt x="4475678" y="0"/>
                </a:lnTo>
                <a:lnTo>
                  <a:pt x="4475678"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40683" y="7721836"/>
            <a:ext cx="4475679" cy="1155539"/>
          </a:xfrm>
          <a:custGeom>
            <a:avLst/>
            <a:gdLst/>
            <a:ahLst/>
            <a:cxnLst/>
            <a:rect r="r" b="b" t="t" l="l"/>
            <a:pathLst>
              <a:path h="1155539" w="4475679">
                <a:moveTo>
                  <a:pt x="0" y="0"/>
                </a:moveTo>
                <a:lnTo>
                  <a:pt x="4475679" y="0"/>
                </a:lnTo>
                <a:lnTo>
                  <a:pt x="4475679"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4090363" y="881397"/>
            <a:ext cx="10115723" cy="5676756"/>
          </a:xfrm>
          <a:custGeom>
            <a:avLst/>
            <a:gdLst/>
            <a:ahLst/>
            <a:cxnLst/>
            <a:rect r="r" b="b" t="t" l="l"/>
            <a:pathLst>
              <a:path h="5676756" w="10115723">
                <a:moveTo>
                  <a:pt x="0" y="0"/>
                </a:moveTo>
                <a:lnTo>
                  <a:pt x="10115723" y="0"/>
                </a:lnTo>
                <a:lnTo>
                  <a:pt x="10115723" y="5676757"/>
                </a:lnTo>
                <a:lnTo>
                  <a:pt x="0" y="5676757"/>
                </a:lnTo>
                <a:lnTo>
                  <a:pt x="0" y="0"/>
                </a:lnTo>
                <a:close/>
              </a:path>
            </a:pathLst>
          </a:custGeom>
          <a:blipFill>
            <a:blip r:embed="rId12"/>
            <a:stretch>
              <a:fillRect l="0" t="0" r="0" b="0"/>
            </a:stretch>
          </a:blipFill>
        </p:spPr>
      </p:sp>
      <p:sp>
        <p:nvSpPr>
          <p:cNvPr name="TextBox 18" id="18"/>
          <p:cNvSpPr txBox="true"/>
          <p:nvPr/>
        </p:nvSpPr>
        <p:spPr>
          <a:xfrm rot="0">
            <a:off x="2967873" y="6862681"/>
            <a:ext cx="12675083" cy="630555"/>
          </a:xfrm>
          <a:prstGeom prst="rect">
            <a:avLst/>
          </a:prstGeom>
        </p:spPr>
        <p:txBody>
          <a:bodyPr anchor="t" rtlCol="false" tIns="0" lIns="0" bIns="0" rIns="0">
            <a:spAutoFit/>
          </a:bodyPr>
          <a:lstStyle/>
          <a:p>
            <a:pPr algn="ctr">
              <a:lnSpc>
                <a:spcPts val="2520"/>
              </a:lnSpc>
              <a:spcBef>
                <a:spcPct val="0"/>
              </a:spcBef>
            </a:pPr>
            <a:r>
              <a:rPr lang="en-US" sz="1800" spc="-19">
                <a:solidFill>
                  <a:srgbClr val="000000"/>
                </a:solidFill>
                <a:latin typeface="Press Start 2P"/>
                <a:ea typeface="Press Start 2P"/>
                <a:cs typeface="Press Start 2P"/>
                <a:sym typeface="Press Start 2P"/>
              </a:rPr>
              <a:t>HOW AMERICA BROKE IRAN’S NUCLEAR SYSTEMS FROM THOUSANDS OF MILES AWAY (JUNE 2010)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55820" y="7721836"/>
            <a:ext cx="4475679" cy="1155539"/>
          </a:xfrm>
          <a:custGeom>
            <a:avLst/>
            <a:gdLst/>
            <a:ahLst/>
            <a:cxnLst/>
            <a:rect r="r" b="b" t="t" l="l"/>
            <a:pathLst>
              <a:path h="1155539" w="4475679">
                <a:moveTo>
                  <a:pt x="0" y="0"/>
                </a:moveTo>
                <a:lnTo>
                  <a:pt x="4475678" y="0"/>
                </a:lnTo>
                <a:lnTo>
                  <a:pt x="4475678"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40683" y="7721836"/>
            <a:ext cx="4475679" cy="1155539"/>
          </a:xfrm>
          <a:custGeom>
            <a:avLst/>
            <a:gdLst/>
            <a:ahLst/>
            <a:cxnLst/>
            <a:rect r="r" b="b" t="t" l="l"/>
            <a:pathLst>
              <a:path h="1155539" w="4475679">
                <a:moveTo>
                  <a:pt x="0" y="0"/>
                </a:moveTo>
                <a:lnTo>
                  <a:pt x="4475679" y="0"/>
                </a:lnTo>
                <a:lnTo>
                  <a:pt x="4475679"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2897225" y="197112"/>
            <a:ext cx="12675083" cy="7129734"/>
          </a:xfrm>
          <a:custGeom>
            <a:avLst/>
            <a:gdLst/>
            <a:ahLst/>
            <a:cxnLst/>
            <a:rect r="r" b="b" t="t" l="l"/>
            <a:pathLst>
              <a:path h="7129734" w="12675083">
                <a:moveTo>
                  <a:pt x="0" y="0"/>
                </a:moveTo>
                <a:lnTo>
                  <a:pt x="12675084" y="0"/>
                </a:lnTo>
                <a:lnTo>
                  <a:pt x="12675084" y="7129735"/>
                </a:lnTo>
                <a:lnTo>
                  <a:pt x="0" y="7129735"/>
                </a:lnTo>
                <a:lnTo>
                  <a:pt x="0" y="0"/>
                </a:lnTo>
                <a:close/>
              </a:path>
            </a:pathLst>
          </a:custGeom>
          <a:blipFill>
            <a:blip r:embed="rId12"/>
            <a:stretch>
              <a:fillRect l="0" t="0" r="0" b="0"/>
            </a:stretch>
          </a:blipFill>
        </p:spPr>
      </p:sp>
      <p:sp>
        <p:nvSpPr>
          <p:cNvPr name="TextBox 18" id="18"/>
          <p:cNvSpPr txBox="true"/>
          <p:nvPr/>
        </p:nvSpPr>
        <p:spPr>
          <a:xfrm rot="0">
            <a:off x="2967873" y="7405606"/>
            <a:ext cx="12675083" cy="316230"/>
          </a:xfrm>
          <a:prstGeom prst="rect">
            <a:avLst/>
          </a:prstGeom>
        </p:spPr>
        <p:txBody>
          <a:bodyPr anchor="t" rtlCol="false" tIns="0" lIns="0" bIns="0" rIns="0">
            <a:spAutoFit/>
          </a:bodyPr>
          <a:lstStyle/>
          <a:p>
            <a:pPr algn="ctr">
              <a:lnSpc>
                <a:spcPts val="2520"/>
              </a:lnSpc>
              <a:spcBef>
                <a:spcPct val="0"/>
              </a:spcBef>
            </a:pPr>
            <a:r>
              <a:rPr lang="en-US" sz="1800" spc="-19">
                <a:solidFill>
                  <a:srgbClr val="000000"/>
                </a:solidFill>
                <a:latin typeface="Press Start 2P"/>
                <a:ea typeface="Press Start 2P"/>
                <a:cs typeface="Press Start 2P"/>
                <a:sym typeface="Press Start 2P"/>
              </a:rPr>
              <a:t>BRINGING A HEALTHCARE GIANT TO NEAR DESTRUCTION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55820" y="7721836"/>
            <a:ext cx="4475679" cy="1155539"/>
          </a:xfrm>
          <a:custGeom>
            <a:avLst/>
            <a:gdLst/>
            <a:ahLst/>
            <a:cxnLst/>
            <a:rect r="r" b="b" t="t" l="l"/>
            <a:pathLst>
              <a:path h="1155539" w="4475679">
                <a:moveTo>
                  <a:pt x="0" y="0"/>
                </a:moveTo>
                <a:lnTo>
                  <a:pt x="4475678" y="0"/>
                </a:lnTo>
                <a:lnTo>
                  <a:pt x="4475678"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40683" y="7721836"/>
            <a:ext cx="4475679" cy="1155539"/>
          </a:xfrm>
          <a:custGeom>
            <a:avLst/>
            <a:gdLst/>
            <a:ahLst/>
            <a:cxnLst/>
            <a:rect r="r" b="b" t="t" l="l"/>
            <a:pathLst>
              <a:path h="1155539" w="4475679">
                <a:moveTo>
                  <a:pt x="0" y="0"/>
                </a:moveTo>
                <a:lnTo>
                  <a:pt x="4475679" y="0"/>
                </a:lnTo>
                <a:lnTo>
                  <a:pt x="4475679"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4880085" y="138598"/>
            <a:ext cx="8833803" cy="7188507"/>
          </a:xfrm>
          <a:custGeom>
            <a:avLst/>
            <a:gdLst/>
            <a:ahLst/>
            <a:cxnLst/>
            <a:rect r="r" b="b" t="t" l="l"/>
            <a:pathLst>
              <a:path h="7188507" w="8833803">
                <a:moveTo>
                  <a:pt x="0" y="0"/>
                </a:moveTo>
                <a:lnTo>
                  <a:pt x="8833803" y="0"/>
                </a:lnTo>
                <a:lnTo>
                  <a:pt x="8833803" y="7188507"/>
                </a:lnTo>
                <a:lnTo>
                  <a:pt x="0" y="7188507"/>
                </a:lnTo>
                <a:lnTo>
                  <a:pt x="0" y="0"/>
                </a:lnTo>
                <a:close/>
              </a:path>
            </a:pathLst>
          </a:custGeom>
          <a:blipFill>
            <a:blip r:embed="rId12"/>
            <a:stretch>
              <a:fillRect l="0" t="0" r="0" b="0"/>
            </a:stretch>
          </a:blipFill>
        </p:spPr>
      </p:sp>
      <p:sp>
        <p:nvSpPr>
          <p:cNvPr name="TextBox 18" id="18"/>
          <p:cNvSpPr txBox="true"/>
          <p:nvPr/>
        </p:nvSpPr>
        <p:spPr>
          <a:xfrm rot="0">
            <a:off x="2967873" y="7405606"/>
            <a:ext cx="12675083" cy="630555"/>
          </a:xfrm>
          <a:prstGeom prst="rect">
            <a:avLst/>
          </a:prstGeom>
        </p:spPr>
        <p:txBody>
          <a:bodyPr anchor="t" rtlCol="false" tIns="0" lIns="0" bIns="0" rIns="0">
            <a:spAutoFit/>
          </a:bodyPr>
          <a:lstStyle/>
          <a:p>
            <a:pPr algn="ctr">
              <a:lnSpc>
                <a:spcPts val="2520"/>
              </a:lnSpc>
              <a:spcBef>
                <a:spcPct val="0"/>
              </a:spcBef>
            </a:pPr>
            <a:r>
              <a:rPr lang="en-US" sz="1800" spc="-19">
                <a:solidFill>
                  <a:srgbClr val="000000"/>
                </a:solidFill>
                <a:latin typeface="Press Start 2P"/>
                <a:ea typeface="Press Start 2P"/>
                <a:cs typeface="Press Start 2P"/>
                <a:sym typeface="Press Start 2P"/>
              </a:rPr>
              <a:t>A HEATED CONVERSATION. SHOULD WE JOIN THE RANKS OF THE HACKERS?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55820" y="7721836"/>
            <a:ext cx="4475679" cy="1155539"/>
          </a:xfrm>
          <a:custGeom>
            <a:avLst/>
            <a:gdLst/>
            <a:ahLst/>
            <a:cxnLst/>
            <a:rect r="r" b="b" t="t" l="l"/>
            <a:pathLst>
              <a:path h="1155539" w="4475679">
                <a:moveTo>
                  <a:pt x="0" y="0"/>
                </a:moveTo>
                <a:lnTo>
                  <a:pt x="4475678" y="0"/>
                </a:lnTo>
                <a:lnTo>
                  <a:pt x="4475678"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40683" y="7721836"/>
            <a:ext cx="4475679" cy="1155539"/>
          </a:xfrm>
          <a:custGeom>
            <a:avLst/>
            <a:gdLst/>
            <a:ahLst/>
            <a:cxnLst/>
            <a:rect r="r" b="b" t="t" l="l"/>
            <a:pathLst>
              <a:path h="1155539" w="4475679">
                <a:moveTo>
                  <a:pt x="0" y="0"/>
                </a:moveTo>
                <a:lnTo>
                  <a:pt x="4475679" y="0"/>
                </a:lnTo>
                <a:lnTo>
                  <a:pt x="4475679" y="1155539"/>
                </a:lnTo>
                <a:lnTo>
                  <a:pt x="0" y="1155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16004" y="563032"/>
            <a:ext cx="3397289" cy="1538045"/>
          </a:xfrm>
          <a:custGeom>
            <a:avLst/>
            <a:gdLst/>
            <a:ahLst/>
            <a:cxnLst/>
            <a:rect r="r" b="b" t="t" l="l"/>
            <a:pathLst>
              <a:path h="1538045" w="3397289">
                <a:moveTo>
                  <a:pt x="0" y="0"/>
                </a:moveTo>
                <a:lnTo>
                  <a:pt x="3397288" y="0"/>
                </a:lnTo>
                <a:lnTo>
                  <a:pt x="3397288" y="1538046"/>
                </a:lnTo>
                <a:lnTo>
                  <a:pt x="0" y="15380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3574708" y="563032"/>
            <a:ext cx="3397289" cy="1538045"/>
          </a:xfrm>
          <a:custGeom>
            <a:avLst/>
            <a:gdLst/>
            <a:ahLst/>
            <a:cxnLst/>
            <a:rect r="r" b="b" t="t" l="l"/>
            <a:pathLst>
              <a:path h="1538045" w="3397289">
                <a:moveTo>
                  <a:pt x="3397288" y="0"/>
                </a:moveTo>
                <a:lnTo>
                  <a:pt x="0" y="0"/>
                </a:lnTo>
                <a:lnTo>
                  <a:pt x="0" y="1538046"/>
                </a:lnTo>
                <a:lnTo>
                  <a:pt x="3397288" y="1538046"/>
                </a:lnTo>
                <a:lnTo>
                  <a:pt x="339728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963551" y="4138388"/>
            <a:ext cx="4234231" cy="4487143"/>
          </a:xfrm>
          <a:custGeom>
            <a:avLst/>
            <a:gdLst/>
            <a:ahLst/>
            <a:cxnLst/>
            <a:rect r="r" b="b" t="t" l="l"/>
            <a:pathLst>
              <a:path h="4487143" w="4234231">
                <a:moveTo>
                  <a:pt x="4234230" y="0"/>
                </a:moveTo>
                <a:lnTo>
                  <a:pt x="0" y="0"/>
                </a:lnTo>
                <a:lnTo>
                  <a:pt x="0" y="4487143"/>
                </a:lnTo>
                <a:lnTo>
                  <a:pt x="4234230" y="4487143"/>
                </a:lnTo>
                <a:lnTo>
                  <a:pt x="423423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017321" y="4138388"/>
            <a:ext cx="4234231" cy="4487143"/>
          </a:xfrm>
          <a:custGeom>
            <a:avLst/>
            <a:gdLst/>
            <a:ahLst/>
            <a:cxnLst/>
            <a:rect r="r" b="b" t="t" l="l"/>
            <a:pathLst>
              <a:path h="4487143" w="4234231">
                <a:moveTo>
                  <a:pt x="0" y="0"/>
                </a:moveTo>
                <a:lnTo>
                  <a:pt x="4234230" y="0"/>
                </a:lnTo>
                <a:lnTo>
                  <a:pt x="4234230" y="4487143"/>
                </a:lnTo>
                <a:lnTo>
                  <a:pt x="0" y="44871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0">
            <a:off x="3424708" y="7836224"/>
            <a:ext cx="3226307" cy="1531029"/>
          </a:xfrm>
          <a:custGeom>
            <a:avLst/>
            <a:gdLst/>
            <a:ahLst/>
            <a:cxnLst/>
            <a:rect r="r" b="b" t="t" l="l"/>
            <a:pathLst>
              <a:path h="1531029" w="3226307">
                <a:moveTo>
                  <a:pt x="0" y="0"/>
                </a:moveTo>
                <a:lnTo>
                  <a:pt x="3226308" y="0"/>
                </a:lnTo>
                <a:lnTo>
                  <a:pt x="3226308" y="1531030"/>
                </a:lnTo>
                <a:lnTo>
                  <a:pt x="0" y="15310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2" id="22"/>
          <p:cNvSpPr/>
          <p:nvPr/>
        </p:nvSpPr>
        <p:spPr>
          <a:xfrm flipH="false" flipV="false" rot="0">
            <a:off x="8349003" y="1443469"/>
            <a:ext cx="3179988" cy="1439667"/>
          </a:xfrm>
          <a:custGeom>
            <a:avLst/>
            <a:gdLst/>
            <a:ahLst/>
            <a:cxnLst/>
            <a:rect r="r" b="b" t="t" l="l"/>
            <a:pathLst>
              <a:path h="1439667" w="3179988">
                <a:moveTo>
                  <a:pt x="0" y="0"/>
                </a:moveTo>
                <a:lnTo>
                  <a:pt x="3179988" y="0"/>
                </a:lnTo>
                <a:lnTo>
                  <a:pt x="3179988" y="1439667"/>
                </a:lnTo>
                <a:lnTo>
                  <a:pt x="0" y="14396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6759009" y="1443469"/>
            <a:ext cx="3179988" cy="1439667"/>
          </a:xfrm>
          <a:custGeom>
            <a:avLst/>
            <a:gdLst/>
            <a:ahLst/>
            <a:cxnLst/>
            <a:rect r="r" b="b" t="t" l="l"/>
            <a:pathLst>
              <a:path h="1439667" w="3179988">
                <a:moveTo>
                  <a:pt x="0" y="0"/>
                </a:moveTo>
                <a:lnTo>
                  <a:pt x="3179988" y="0"/>
                </a:lnTo>
                <a:lnTo>
                  <a:pt x="3179988" y="1439667"/>
                </a:lnTo>
                <a:lnTo>
                  <a:pt x="0" y="14396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true" flipV="false" rot="0">
            <a:off x="7147543" y="8056137"/>
            <a:ext cx="1201460" cy="1311117"/>
          </a:xfrm>
          <a:custGeom>
            <a:avLst/>
            <a:gdLst/>
            <a:ahLst/>
            <a:cxnLst/>
            <a:rect r="r" b="b" t="t" l="l"/>
            <a:pathLst>
              <a:path h="1311117" w="1201460">
                <a:moveTo>
                  <a:pt x="1201460" y="0"/>
                </a:moveTo>
                <a:lnTo>
                  <a:pt x="0" y="0"/>
                </a:lnTo>
                <a:lnTo>
                  <a:pt x="0" y="1311117"/>
                </a:lnTo>
                <a:lnTo>
                  <a:pt x="1201460" y="1311117"/>
                </a:lnTo>
                <a:lnTo>
                  <a:pt x="120146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5" id="25"/>
          <p:cNvSpPr txBox="true"/>
          <p:nvPr/>
        </p:nvSpPr>
        <p:spPr>
          <a:xfrm rot="0">
            <a:off x="3183715" y="2930734"/>
            <a:ext cx="11833605" cy="2797174"/>
          </a:xfrm>
          <a:prstGeom prst="rect">
            <a:avLst/>
          </a:prstGeom>
        </p:spPr>
        <p:txBody>
          <a:bodyPr anchor="t" rtlCol="false" tIns="0" lIns="0" bIns="0" rIns="0">
            <a:spAutoFit/>
          </a:bodyPr>
          <a:lstStyle/>
          <a:p>
            <a:pPr algn="ctr">
              <a:lnSpc>
                <a:spcPts val="11200"/>
              </a:lnSpc>
            </a:pPr>
            <a:r>
              <a:rPr lang="en-US" sz="8000">
                <a:solidFill>
                  <a:srgbClr val="FFFFFF"/>
                </a:solidFill>
                <a:latin typeface="Press Start 2P"/>
                <a:ea typeface="Press Start 2P"/>
                <a:cs typeface="Press Start 2P"/>
                <a:sym typeface="Press Start 2P"/>
              </a:rPr>
              <a:t>CYBER</a:t>
            </a:r>
          </a:p>
          <a:p>
            <a:pPr algn="ctr" marL="0" indent="0" lvl="0">
              <a:lnSpc>
                <a:spcPts val="11200"/>
              </a:lnSpc>
              <a:spcBef>
                <a:spcPct val="0"/>
              </a:spcBef>
            </a:pPr>
            <a:r>
              <a:rPr lang="en-US" sz="8000">
                <a:solidFill>
                  <a:srgbClr val="FFFFFF"/>
                </a:solidFill>
                <a:latin typeface="Press Start 2P"/>
                <a:ea typeface="Press Start 2P"/>
                <a:cs typeface="Press Start 2P"/>
                <a:sym typeface="Press Start 2P"/>
              </a:rPr>
              <a:t>FORENSICS</a:t>
            </a:r>
          </a:p>
        </p:txBody>
      </p:sp>
      <p:sp>
        <p:nvSpPr>
          <p:cNvPr name="Freeform 26" id="26"/>
          <p:cNvSpPr/>
          <p:nvPr/>
        </p:nvSpPr>
        <p:spPr>
          <a:xfrm flipH="true" flipV="false" rot="0">
            <a:off x="-1239953" y="2823109"/>
            <a:ext cx="3959812" cy="964754"/>
          </a:xfrm>
          <a:custGeom>
            <a:avLst/>
            <a:gdLst/>
            <a:ahLst/>
            <a:cxnLst/>
            <a:rect r="r" b="b" t="t" l="l"/>
            <a:pathLst>
              <a:path h="964754" w="3959812">
                <a:moveTo>
                  <a:pt x="3959811" y="0"/>
                </a:moveTo>
                <a:lnTo>
                  <a:pt x="0" y="0"/>
                </a:lnTo>
                <a:lnTo>
                  <a:pt x="0" y="964754"/>
                </a:lnTo>
                <a:lnTo>
                  <a:pt x="3959811" y="964754"/>
                </a:lnTo>
                <a:lnTo>
                  <a:pt x="3959811"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7" id="27"/>
          <p:cNvSpPr/>
          <p:nvPr/>
        </p:nvSpPr>
        <p:spPr>
          <a:xfrm flipH="true" flipV="false" rot="0">
            <a:off x="15563850" y="2823109"/>
            <a:ext cx="3959812" cy="964754"/>
          </a:xfrm>
          <a:custGeom>
            <a:avLst/>
            <a:gdLst/>
            <a:ahLst/>
            <a:cxnLst/>
            <a:rect r="r" b="b" t="t" l="l"/>
            <a:pathLst>
              <a:path h="964754" w="3959812">
                <a:moveTo>
                  <a:pt x="3959812" y="0"/>
                </a:moveTo>
                <a:lnTo>
                  <a:pt x="0" y="0"/>
                </a:lnTo>
                <a:lnTo>
                  <a:pt x="0" y="964754"/>
                </a:lnTo>
                <a:lnTo>
                  <a:pt x="3959812" y="964754"/>
                </a:lnTo>
                <a:lnTo>
                  <a:pt x="3959812"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8" id="28"/>
          <p:cNvSpPr/>
          <p:nvPr/>
        </p:nvSpPr>
        <p:spPr>
          <a:xfrm flipH="true" flipV="false" rot="0">
            <a:off x="13335000" y="2364592"/>
            <a:ext cx="1423271" cy="1423271"/>
          </a:xfrm>
          <a:custGeom>
            <a:avLst/>
            <a:gdLst/>
            <a:ahLst/>
            <a:cxnLst/>
            <a:rect r="r" b="b" t="t" l="l"/>
            <a:pathLst>
              <a:path h="1423271" w="1423271">
                <a:moveTo>
                  <a:pt x="1423271" y="0"/>
                </a:moveTo>
                <a:lnTo>
                  <a:pt x="0" y="0"/>
                </a:lnTo>
                <a:lnTo>
                  <a:pt x="0" y="1423271"/>
                </a:lnTo>
                <a:lnTo>
                  <a:pt x="1423271" y="1423271"/>
                </a:lnTo>
                <a:lnTo>
                  <a:pt x="1423271"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29" id="29"/>
          <p:cNvSpPr txBox="true"/>
          <p:nvPr/>
        </p:nvSpPr>
        <p:spPr>
          <a:xfrm rot="0">
            <a:off x="2924666" y="5699770"/>
            <a:ext cx="11833605" cy="679450"/>
          </a:xfrm>
          <a:prstGeom prst="rect">
            <a:avLst/>
          </a:prstGeom>
        </p:spPr>
        <p:txBody>
          <a:bodyPr anchor="t" rtlCol="false" tIns="0" lIns="0" bIns="0" rIns="0">
            <a:spAutoFit/>
          </a:bodyPr>
          <a:lstStyle/>
          <a:p>
            <a:pPr algn="ctr" marL="0" indent="0" lvl="0">
              <a:lnSpc>
                <a:spcPts val="5599"/>
              </a:lnSpc>
              <a:spcBef>
                <a:spcPct val="0"/>
              </a:spcBef>
            </a:pPr>
            <a:r>
              <a:rPr lang="en-US" sz="3999">
                <a:solidFill>
                  <a:srgbClr val="FFFFFF"/>
                </a:solidFill>
                <a:latin typeface="Press Start 2P"/>
                <a:ea typeface="Press Start 2P"/>
                <a:cs typeface="Press Start 2P"/>
                <a:sym typeface="Press Start 2P"/>
              </a:rPr>
              <a:t>FINAL PROJECT DAY!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99775" y="4933183"/>
            <a:ext cx="4158275" cy="3750008"/>
          </a:xfrm>
          <a:custGeom>
            <a:avLst/>
            <a:gdLst/>
            <a:ahLst/>
            <a:cxnLst/>
            <a:rect r="r" b="b" t="t" l="l"/>
            <a:pathLst>
              <a:path h="3750008" w="4158275">
                <a:moveTo>
                  <a:pt x="0" y="0"/>
                </a:moveTo>
                <a:lnTo>
                  <a:pt x="4158274" y="0"/>
                </a:lnTo>
                <a:lnTo>
                  <a:pt x="4158274" y="3750008"/>
                </a:lnTo>
                <a:lnTo>
                  <a:pt x="0" y="37500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6176943" y="7451924"/>
            <a:ext cx="579662" cy="1265135"/>
          </a:xfrm>
          <a:custGeom>
            <a:avLst/>
            <a:gdLst/>
            <a:ahLst/>
            <a:cxnLst/>
            <a:rect r="r" b="b" t="t" l="l"/>
            <a:pathLst>
              <a:path h="1265135" w="579662">
                <a:moveTo>
                  <a:pt x="0" y="0"/>
                </a:moveTo>
                <a:lnTo>
                  <a:pt x="579662" y="0"/>
                </a:lnTo>
                <a:lnTo>
                  <a:pt x="579662" y="1265136"/>
                </a:lnTo>
                <a:lnTo>
                  <a:pt x="0" y="12651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3773125" y="7883807"/>
            <a:ext cx="3226307" cy="1531029"/>
          </a:xfrm>
          <a:custGeom>
            <a:avLst/>
            <a:gdLst/>
            <a:ahLst/>
            <a:cxnLst/>
            <a:rect r="r" b="b" t="t" l="l"/>
            <a:pathLst>
              <a:path h="1531029" w="3226307">
                <a:moveTo>
                  <a:pt x="0" y="0"/>
                </a:moveTo>
                <a:lnTo>
                  <a:pt x="3226307" y="0"/>
                </a:lnTo>
                <a:lnTo>
                  <a:pt x="3226307" y="1531030"/>
                </a:lnTo>
                <a:lnTo>
                  <a:pt x="0" y="15310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4869598" y="8084492"/>
            <a:ext cx="1033361" cy="668867"/>
          </a:xfrm>
          <a:custGeom>
            <a:avLst/>
            <a:gdLst/>
            <a:ahLst/>
            <a:cxnLst/>
            <a:rect r="r" b="b" t="t" l="l"/>
            <a:pathLst>
              <a:path h="668867" w="1033361">
                <a:moveTo>
                  <a:pt x="0" y="0"/>
                </a:moveTo>
                <a:lnTo>
                  <a:pt x="1033361" y="0"/>
                </a:lnTo>
                <a:lnTo>
                  <a:pt x="1033361" y="668867"/>
                </a:lnTo>
                <a:lnTo>
                  <a:pt x="0" y="66886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7489418" y="8252389"/>
            <a:ext cx="646744" cy="1162448"/>
          </a:xfrm>
          <a:custGeom>
            <a:avLst/>
            <a:gdLst/>
            <a:ahLst/>
            <a:cxnLst/>
            <a:rect r="r" b="b" t="t" l="l"/>
            <a:pathLst>
              <a:path h="1162448" w="646744">
                <a:moveTo>
                  <a:pt x="0" y="0"/>
                </a:moveTo>
                <a:lnTo>
                  <a:pt x="646744" y="0"/>
                </a:lnTo>
                <a:lnTo>
                  <a:pt x="646744" y="1162448"/>
                </a:lnTo>
                <a:lnTo>
                  <a:pt x="0" y="116244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true" flipV="false" rot="0">
            <a:off x="17122761" y="7418055"/>
            <a:ext cx="579662" cy="1265135"/>
          </a:xfrm>
          <a:custGeom>
            <a:avLst/>
            <a:gdLst/>
            <a:ahLst/>
            <a:cxnLst/>
            <a:rect r="r" b="b" t="t" l="l"/>
            <a:pathLst>
              <a:path h="1265135" w="579662">
                <a:moveTo>
                  <a:pt x="579662" y="0"/>
                </a:moveTo>
                <a:lnTo>
                  <a:pt x="0" y="0"/>
                </a:lnTo>
                <a:lnTo>
                  <a:pt x="0" y="1265136"/>
                </a:lnTo>
                <a:lnTo>
                  <a:pt x="579662" y="1265136"/>
                </a:lnTo>
                <a:lnTo>
                  <a:pt x="57966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1" id="21"/>
          <p:cNvSpPr txBox="true"/>
          <p:nvPr/>
        </p:nvSpPr>
        <p:spPr>
          <a:xfrm rot="0">
            <a:off x="5104655" y="1730768"/>
            <a:ext cx="8078690" cy="762000"/>
          </a:xfrm>
          <a:prstGeom prst="rect">
            <a:avLst/>
          </a:prstGeom>
        </p:spPr>
        <p:txBody>
          <a:bodyPr anchor="t" rtlCol="false" tIns="0" lIns="0" bIns="0" rIns="0">
            <a:spAutoFit/>
          </a:bodyPr>
          <a:lstStyle/>
          <a:p>
            <a:pPr algn="ctr" marL="0" indent="0" lvl="0">
              <a:lnSpc>
                <a:spcPts val="6299"/>
              </a:lnSpc>
            </a:pPr>
            <a:r>
              <a:rPr lang="en-US" sz="4499" spc="-49">
                <a:solidFill>
                  <a:srgbClr val="FFFFFF"/>
                </a:solidFill>
                <a:latin typeface="Press Start 2P"/>
                <a:ea typeface="Press Start 2P"/>
                <a:cs typeface="Press Start 2P"/>
                <a:sym typeface="Press Start 2P"/>
              </a:rPr>
              <a:t>OBJECTIVES</a:t>
            </a:r>
          </a:p>
        </p:txBody>
      </p:sp>
      <p:sp>
        <p:nvSpPr>
          <p:cNvPr name="Freeform 22" id="22"/>
          <p:cNvSpPr/>
          <p:nvPr/>
        </p:nvSpPr>
        <p:spPr>
          <a:xfrm flipH="false" flipV="false" rot="0">
            <a:off x="3958499" y="2940290"/>
            <a:ext cx="973268" cy="940248"/>
          </a:xfrm>
          <a:custGeom>
            <a:avLst/>
            <a:gdLst/>
            <a:ahLst/>
            <a:cxnLst/>
            <a:rect r="r" b="b" t="t" l="l"/>
            <a:pathLst>
              <a:path h="940248" w="973268">
                <a:moveTo>
                  <a:pt x="0" y="0"/>
                </a:moveTo>
                <a:lnTo>
                  <a:pt x="973268" y="0"/>
                </a:lnTo>
                <a:lnTo>
                  <a:pt x="973268" y="940248"/>
                </a:lnTo>
                <a:lnTo>
                  <a:pt x="0" y="940248"/>
                </a:lnTo>
                <a:lnTo>
                  <a:pt x="0" y="0"/>
                </a:lnTo>
                <a:close/>
              </a:path>
            </a:pathLst>
          </a:custGeom>
          <a:blipFill>
            <a:blip r:embed="rId20">
              <a:extLst>
                <a:ext uri="{96DAC541-7B7A-43D3-8B79-37D633B846F1}">
                  <asvg:svgBlip xmlns:asvg="http://schemas.microsoft.com/office/drawing/2016/SVG/main" r:embed="rId21"/>
                </a:ext>
              </a:extLst>
            </a:blip>
            <a:stretch>
              <a:fillRect l="0" t="-1755" r="0" b="-1755"/>
            </a:stretch>
          </a:blipFill>
        </p:spPr>
      </p:sp>
      <p:sp>
        <p:nvSpPr>
          <p:cNvPr name="TextBox 23" id="23"/>
          <p:cNvSpPr txBox="true"/>
          <p:nvPr/>
        </p:nvSpPr>
        <p:spPr>
          <a:xfrm rot="0">
            <a:off x="4186793" y="3263917"/>
            <a:ext cx="516681" cy="316230"/>
          </a:xfrm>
          <a:prstGeom prst="rect">
            <a:avLst/>
          </a:prstGeom>
        </p:spPr>
        <p:txBody>
          <a:bodyPr anchor="t" rtlCol="false" tIns="0" lIns="0" bIns="0" rIns="0">
            <a:spAutoFit/>
          </a:bodyPr>
          <a:lstStyle/>
          <a:p>
            <a:pPr algn="ctr" marL="0" indent="0" lvl="0">
              <a:lnSpc>
                <a:spcPts val="2520"/>
              </a:lnSpc>
            </a:pPr>
            <a:r>
              <a:rPr lang="en-US" sz="1800" spc="-19">
                <a:solidFill>
                  <a:srgbClr val="FFFFFF"/>
                </a:solidFill>
                <a:latin typeface="Press Start 2P"/>
                <a:ea typeface="Press Start 2P"/>
                <a:cs typeface="Press Start 2P"/>
                <a:sym typeface="Press Start 2P"/>
              </a:rPr>
              <a:t>1</a:t>
            </a:r>
          </a:p>
        </p:txBody>
      </p:sp>
      <p:sp>
        <p:nvSpPr>
          <p:cNvPr name="Freeform 24" id="24"/>
          <p:cNvSpPr/>
          <p:nvPr/>
        </p:nvSpPr>
        <p:spPr>
          <a:xfrm flipH="false" flipV="false" rot="0">
            <a:off x="3958499" y="4235260"/>
            <a:ext cx="973268" cy="940248"/>
          </a:xfrm>
          <a:custGeom>
            <a:avLst/>
            <a:gdLst/>
            <a:ahLst/>
            <a:cxnLst/>
            <a:rect r="r" b="b" t="t" l="l"/>
            <a:pathLst>
              <a:path h="940248" w="973268">
                <a:moveTo>
                  <a:pt x="0" y="0"/>
                </a:moveTo>
                <a:lnTo>
                  <a:pt x="973268" y="0"/>
                </a:lnTo>
                <a:lnTo>
                  <a:pt x="973268" y="940248"/>
                </a:lnTo>
                <a:lnTo>
                  <a:pt x="0" y="940248"/>
                </a:lnTo>
                <a:lnTo>
                  <a:pt x="0" y="0"/>
                </a:lnTo>
                <a:close/>
              </a:path>
            </a:pathLst>
          </a:custGeom>
          <a:blipFill>
            <a:blip r:embed="rId20">
              <a:extLst>
                <a:ext uri="{96DAC541-7B7A-43D3-8B79-37D633B846F1}">
                  <asvg:svgBlip xmlns:asvg="http://schemas.microsoft.com/office/drawing/2016/SVG/main" r:embed="rId21"/>
                </a:ext>
              </a:extLst>
            </a:blip>
            <a:stretch>
              <a:fillRect l="0" t="-1755" r="0" b="-1755"/>
            </a:stretch>
          </a:blipFill>
        </p:spPr>
      </p:sp>
      <p:sp>
        <p:nvSpPr>
          <p:cNvPr name="TextBox 25" id="25"/>
          <p:cNvSpPr txBox="true"/>
          <p:nvPr/>
        </p:nvSpPr>
        <p:spPr>
          <a:xfrm rot="0">
            <a:off x="4186793" y="4558887"/>
            <a:ext cx="516681" cy="316230"/>
          </a:xfrm>
          <a:prstGeom prst="rect">
            <a:avLst/>
          </a:prstGeom>
        </p:spPr>
        <p:txBody>
          <a:bodyPr anchor="t" rtlCol="false" tIns="0" lIns="0" bIns="0" rIns="0">
            <a:spAutoFit/>
          </a:bodyPr>
          <a:lstStyle/>
          <a:p>
            <a:pPr algn="ctr" marL="0" indent="0" lvl="0">
              <a:lnSpc>
                <a:spcPts val="2520"/>
              </a:lnSpc>
            </a:pPr>
            <a:r>
              <a:rPr lang="en-US" sz="1800" spc="-19">
                <a:solidFill>
                  <a:srgbClr val="FFFFFF"/>
                </a:solidFill>
                <a:latin typeface="Press Start 2P"/>
                <a:ea typeface="Press Start 2P"/>
                <a:cs typeface="Press Start 2P"/>
                <a:sym typeface="Press Start 2P"/>
              </a:rPr>
              <a:t>2</a:t>
            </a:r>
          </a:p>
        </p:txBody>
      </p:sp>
      <p:sp>
        <p:nvSpPr>
          <p:cNvPr name="Freeform 26" id="26"/>
          <p:cNvSpPr/>
          <p:nvPr/>
        </p:nvSpPr>
        <p:spPr>
          <a:xfrm flipH="false" flipV="false" rot="0">
            <a:off x="3958499" y="5532378"/>
            <a:ext cx="973268" cy="940248"/>
          </a:xfrm>
          <a:custGeom>
            <a:avLst/>
            <a:gdLst/>
            <a:ahLst/>
            <a:cxnLst/>
            <a:rect r="r" b="b" t="t" l="l"/>
            <a:pathLst>
              <a:path h="940248" w="973268">
                <a:moveTo>
                  <a:pt x="0" y="0"/>
                </a:moveTo>
                <a:lnTo>
                  <a:pt x="973268" y="0"/>
                </a:lnTo>
                <a:lnTo>
                  <a:pt x="973268" y="940248"/>
                </a:lnTo>
                <a:lnTo>
                  <a:pt x="0" y="940248"/>
                </a:lnTo>
                <a:lnTo>
                  <a:pt x="0" y="0"/>
                </a:lnTo>
                <a:close/>
              </a:path>
            </a:pathLst>
          </a:custGeom>
          <a:blipFill>
            <a:blip r:embed="rId20">
              <a:extLst>
                <a:ext uri="{96DAC541-7B7A-43D3-8B79-37D633B846F1}">
                  <asvg:svgBlip xmlns:asvg="http://schemas.microsoft.com/office/drawing/2016/SVG/main" r:embed="rId21"/>
                </a:ext>
              </a:extLst>
            </a:blip>
            <a:stretch>
              <a:fillRect l="0" t="-1755" r="0" b="-1755"/>
            </a:stretch>
          </a:blipFill>
        </p:spPr>
      </p:sp>
      <p:sp>
        <p:nvSpPr>
          <p:cNvPr name="TextBox 27" id="27"/>
          <p:cNvSpPr txBox="true"/>
          <p:nvPr/>
        </p:nvSpPr>
        <p:spPr>
          <a:xfrm rot="0">
            <a:off x="4186793" y="5856005"/>
            <a:ext cx="516681" cy="316230"/>
          </a:xfrm>
          <a:prstGeom prst="rect">
            <a:avLst/>
          </a:prstGeom>
        </p:spPr>
        <p:txBody>
          <a:bodyPr anchor="t" rtlCol="false" tIns="0" lIns="0" bIns="0" rIns="0">
            <a:spAutoFit/>
          </a:bodyPr>
          <a:lstStyle/>
          <a:p>
            <a:pPr algn="ctr" marL="0" indent="0" lvl="0">
              <a:lnSpc>
                <a:spcPts val="2520"/>
              </a:lnSpc>
            </a:pPr>
            <a:r>
              <a:rPr lang="en-US" sz="1800" spc="-19">
                <a:solidFill>
                  <a:srgbClr val="FFFFFF"/>
                </a:solidFill>
                <a:latin typeface="Press Start 2P"/>
                <a:ea typeface="Press Start 2P"/>
                <a:cs typeface="Press Start 2P"/>
                <a:sym typeface="Press Start 2P"/>
              </a:rPr>
              <a:t>3</a:t>
            </a:r>
          </a:p>
        </p:txBody>
      </p:sp>
      <p:sp>
        <p:nvSpPr>
          <p:cNvPr name="TextBox 28" id="28"/>
          <p:cNvSpPr txBox="true"/>
          <p:nvPr/>
        </p:nvSpPr>
        <p:spPr>
          <a:xfrm rot="0">
            <a:off x="5160367" y="3291036"/>
            <a:ext cx="9191113" cy="415290"/>
          </a:xfrm>
          <a:prstGeom prst="rect">
            <a:avLst/>
          </a:prstGeom>
        </p:spPr>
        <p:txBody>
          <a:bodyPr anchor="t" rtlCol="false" tIns="0" lIns="0" bIns="0" rIns="0">
            <a:spAutoFit/>
          </a:bodyPr>
          <a:lstStyle/>
          <a:p>
            <a:pPr algn="just">
              <a:lnSpc>
                <a:spcPts val="3359"/>
              </a:lnSpc>
              <a:spcBef>
                <a:spcPct val="0"/>
              </a:spcBef>
            </a:pPr>
            <a:r>
              <a:rPr lang="en-US" sz="2399">
                <a:solidFill>
                  <a:srgbClr val="FFFFFF"/>
                </a:solidFill>
                <a:latin typeface="Roboto"/>
                <a:ea typeface="Roboto"/>
                <a:cs typeface="Roboto"/>
                <a:sym typeface="Roboto"/>
              </a:rPr>
              <a:t>Review some challenges from the AITCC. Solutions, etc. </a:t>
            </a:r>
          </a:p>
        </p:txBody>
      </p:sp>
      <p:sp>
        <p:nvSpPr>
          <p:cNvPr name="TextBox 29" id="29"/>
          <p:cNvSpPr txBox="true"/>
          <p:nvPr/>
        </p:nvSpPr>
        <p:spPr>
          <a:xfrm rot="0">
            <a:off x="5160367" y="4504594"/>
            <a:ext cx="9698106" cy="4152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Lets talk my favorite catagory. Forensics. and disscuss some strategies</a:t>
            </a:r>
          </a:p>
        </p:txBody>
      </p:sp>
      <p:sp>
        <p:nvSpPr>
          <p:cNvPr name="TextBox 30" id="30"/>
          <p:cNvSpPr txBox="true"/>
          <p:nvPr/>
        </p:nvSpPr>
        <p:spPr>
          <a:xfrm rot="0">
            <a:off x="5160367" y="5936015"/>
            <a:ext cx="9191113" cy="4152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Wrapping up the project, summary, and future learning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489418" y="8389284"/>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69377"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622564"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7489418" y="7875150"/>
            <a:ext cx="3226307" cy="1531029"/>
          </a:xfrm>
          <a:custGeom>
            <a:avLst/>
            <a:gdLst/>
            <a:ahLst/>
            <a:cxnLst/>
            <a:rect r="r" b="b" t="t" l="l"/>
            <a:pathLst>
              <a:path h="1531029" w="3226307">
                <a:moveTo>
                  <a:pt x="0" y="0"/>
                </a:moveTo>
                <a:lnTo>
                  <a:pt x="3226308" y="0"/>
                </a:lnTo>
                <a:lnTo>
                  <a:pt x="3226308" y="1531030"/>
                </a:lnTo>
                <a:lnTo>
                  <a:pt x="0" y="15310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2133413" y="7917676"/>
            <a:ext cx="3226307" cy="1531029"/>
          </a:xfrm>
          <a:custGeom>
            <a:avLst/>
            <a:gdLst/>
            <a:ahLst/>
            <a:cxnLst/>
            <a:rect r="r" b="b" t="t" l="l"/>
            <a:pathLst>
              <a:path h="1531029" w="3226307">
                <a:moveTo>
                  <a:pt x="0" y="0"/>
                </a:moveTo>
                <a:lnTo>
                  <a:pt x="3226307" y="0"/>
                </a:lnTo>
                <a:lnTo>
                  <a:pt x="3226307" y="1531030"/>
                </a:lnTo>
                <a:lnTo>
                  <a:pt x="0" y="15310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2950636" y="7913963"/>
            <a:ext cx="3226307" cy="1531029"/>
          </a:xfrm>
          <a:custGeom>
            <a:avLst/>
            <a:gdLst/>
            <a:ahLst/>
            <a:cxnLst/>
            <a:rect r="r" b="b" t="t" l="l"/>
            <a:pathLst>
              <a:path h="1531029" w="3226307">
                <a:moveTo>
                  <a:pt x="0" y="0"/>
                </a:moveTo>
                <a:lnTo>
                  <a:pt x="3226307" y="0"/>
                </a:lnTo>
                <a:lnTo>
                  <a:pt x="3226307" y="1531030"/>
                </a:lnTo>
                <a:lnTo>
                  <a:pt x="0" y="15310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15166876" y="546323"/>
            <a:ext cx="3959812" cy="964754"/>
          </a:xfrm>
          <a:custGeom>
            <a:avLst/>
            <a:gdLst/>
            <a:ahLst/>
            <a:cxnLst/>
            <a:rect r="r" b="b" t="t" l="l"/>
            <a:pathLst>
              <a:path h="964754" w="3959812">
                <a:moveTo>
                  <a:pt x="0" y="0"/>
                </a:moveTo>
                <a:lnTo>
                  <a:pt x="3959812" y="0"/>
                </a:lnTo>
                <a:lnTo>
                  <a:pt x="3959812" y="964754"/>
                </a:lnTo>
                <a:lnTo>
                  <a:pt x="0" y="964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256506" y="1511077"/>
            <a:ext cx="2210639" cy="1000817"/>
          </a:xfrm>
          <a:custGeom>
            <a:avLst/>
            <a:gdLst/>
            <a:ahLst/>
            <a:cxnLst/>
            <a:rect r="r" b="b" t="t" l="l"/>
            <a:pathLst>
              <a:path h="1000817" w="2210639">
                <a:moveTo>
                  <a:pt x="0" y="0"/>
                </a:moveTo>
                <a:lnTo>
                  <a:pt x="2210639" y="0"/>
                </a:lnTo>
                <a:lnTo>
                  <a:pt x="2210639" y="1000817"/>
                </a:lnTo>
                <a:lnTo>
                  <a:pt x="0" y="10008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0">
            <a:off x="1369953" y="1511077"/>
            <a:ext cx="2210639" cy="1000817"/>
          </a:xfrm>
          <a:custGeom>
            <a:avLst/>
            <a:gdLst/>
            <a:ahLst/>
            <a:cxnLst/>
            <a:rect r="r" b="b" t="t" l="l"/>
            <a:pathLst>
              <a:path h="1000817" w="2210639">
                <a:moveTo>
                  <a:pt x="0" y="0"/>
                </a:moveTo>
                <a:lnTo>
                  <a:pt x="2210640" y="0"/>
                </a:lnTo>
                <a:lnTo>
                  <a:pt x="2210640" y="1000817"/>
                </a:lnTo>
                <a:lnTo>
                  <a:pt x="0" y="10008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0">
            <a:off x="5920420" y="7600159"/>
            <a:ext cx="1008298" cy="1848546"/>
          </a:xfrm>
          <a:custGeom>
            <a:avLst/>
            <a:gdLst/>
            <a:ahLst/>
            <a:cxnLst/>
            <a:rect r="r" b="b" t="t" l="l"/>
            <a:pathLst>
              <a:path h="1848546" w="1008298">
                <a:moveTo>
                  <a:pt x="0" y="0"/>
                </a:moveTo>
                <a:lnTo>
                  <a:pt x="1008298" y="0"/>
                </a:lnTo>
                <a:lnTo>
                  <a:pt x="1008298" y="1848547"/>
                </a:lnTo>
                <a:lnTo>
                  <a:pt x="0" y="184854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2" id="22"/>
          <p:cNvSpPr/>
          <p:nvPr/>
        </p:nvSpPr>
        <p:spPr>
          <a:xfrm flipH="false" flipV="false" rot="0">
            <a:off x="162930" y="1781007"/>
            <a:ext cx="4624687" cy="6356958"/>
          </a:xfrm>
          <a:custGeom>
            <a:avLst/>
            <a:gdLst/>
            <a:ahLst/>
            <a:cxnLst/>
            <a:rect r="r" b="b" t="t" l="l"/>
            <a:pathLst>
              <a:path h="6356958" w="4624687">
                <a:moveTo>
                  <a:pt x="0" y="0"/>
                </a:moveTo>
                <a:lnTo>
                  <a:pt x="4624687" y="0"/>
                </a:lnTo>
                <a:lnTo>
                  <a:pt x="4624687" y="6356958"/>
                </a:lnTo>
                <a:lnTo>
                  <a:pt x="0" y="6356958"/>
                </a:lnTo>
                <a:lnTo>
                  <a:pt x="0" y="0"/>
                </a:lnTo>
                <a:close/>
              </a:path>
            </a:pathLst>
          </a:custGeom>
          <a:blipFill>
            <a:blip r:embed="rId18"/>
            <a:stretch>
              <a:fillRect l="0" t="0" r="0" b="0"/>
            </a:stretch>
          </a:blipFill>
        </p:spPr>
      </p:sp>
      <p:sp>
        <p:nvSpPr>
          <p:cNvPr name="Freeform 23" id="23"/>
          <p:cNvSpPr/>
          <p:nvPr/>
        </p:nvSpPr>
        <p:spPr>
          <a:xfrm flipH="false" flipV="false" rot="0">
            <a:off x="5256945" y="3232793"/>
            <a:ext cx="10640637" cy="3453386"/>
          </a:xfrm>
          <a:custGeom>
            <a:avLst/>
            <a:gdLst/>
            <a:ahLst/>
            <a:cxnLst/>
            <a:rect r="r" b="b" t="t" l="l"/>
            <a:pathLst>
              <a:path h="3453386" w="10640637">
                <a:moveTo>
                  <a:pt x="0" y="0"/>
                </a:moveTo>
                <a:lnTo>
                  <a:pt x="10640637" y="0"/>
                </a:lnTo>
                <a:lnTo>
                  <a:pt x="10640637" y="3453386"/>
                </a:lnTo>
                <a:lnTo>
                  <a:pt x="0" y="3453386"/>
                </a:lnTo>
                <a:lnTo>
                  <a:pt x="0" y="0"/>
                </a:lnTo>
                <a:close/>
              </a:path>
            </a:pathLst>
          </a:custGeom>
          <a:blipFill>
            <a:blip r:embed="rId19"/>
            <a:stretch>
              <a:fillRect l="0" t="0" r="0" b="0"/>
            </a:stretch>
          </a:blipFill>
        </p:spPr>
      </p:sp>
      <p:sp>
        <p:nvSpPr>
          <p:cNvPr name="TextBox 24" id="24"/>
          <p:cNvSpPr txBox="true"/>
          <p:nvPr/>
        </p:nvSpPr>
        <p:spPr>
          <a:xfrm rot="0">
            <a:off x="5038398" y="1249485"/>
            <a:ext cx="9877697" cy="762000"/>
          </a:xfrm>
          <a:prstGeom prst="rect">
            <a:avLst/>
          </a:prstGeom>
        </p:spPr>
        <p:txBody>
          <a:bodyPr anchor="t" rtlCol="false" tIns="0" lIns="0" bIns="0" rIns="0">
            <a:spAutoFit/>
          </a:bodyPr>
          <a:lstStyle/>
          <a:p>
            <a:pPr algn="ctr" marL="0" indent="0" lvl="0">
              <a:lnSpc>
                <a:spcPts val="6299"/>
              </a:lnSpc>
            </a:pPr>
            <a:r>
              <a:rPr lang="en-US" sz="4499" spc="-49">
                <a:solidFill>
                  <a:srgbClr val="FFFFFF"/>
                </a:solidFill>
                <a:latin typeface="Press Start 2P"/>
                <a:ea typeface="Press Start 2P"/>
                <a:cs typeface="Press Start 2P"/>
                <a:sym typeface="Press Start 2P"/>
              </a:rPr>
              <a:t>CHALLENGE REVIEW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39953" y="463426"/>
            <a:ext cx="2497196" cy="1130549"/>
          </a:xfrm>
          <a:custGeom>
            <a:avLst/>
            <a:gdLst/>
            <a:ahLst/>
            <a:cxnLst/>
            <a:rect r="r" b="b" t="t" l="l"/>
            <a:pathLst>
              <a:path h="1130549" w="2497196">
                <a:moveTo>
                  <a:pt x="0" y="0"/>
                </a:moveTo>
                <a:lnTo>
                  <a:pt x="2497195" y="0"/>
                </a:lnTo>
                <a:lnTo>
                  <a:pt x="2497195" y="1130548"/>
                </a:lnTo>
                <a:lnTo>
                  <a:pt x="0" y="11305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479281" y="7883807"/>
            <a:ext cx="3226307" cy="1531029"/>
          </a:xfrm>
          <a:custGeom>
            <a:avLst/>
            <a:gdLst/>
            <a:ahLst/>
            <a:cxnLst/>
            <a:rect r="r" b="b" t="t" l="l"/>
            <a:pathLst>
              <a:path h="1531029" w="3226307">
                <a:moveTo>
                  <a:pt x="0" y="0"/>
                </a:moveTo>
                <a:lnTo>
                  <a:pt x="3226307" y="0"/>
                </a:lnTo>
                <a:lnTo>
                  <a:pt x="3226307" y="1531030"/>
                </a:lnTo>
                <a:lnTo>
                  <a:pt x="0" y="15310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true" flipV="false" rot="0">
            <a:off x="-1827518" y="2834810"/>
            <a:ext cx="4598052" cy="1120253"/>
          </a:xfrm>
          <a:custGeom>
            <a:avLst/>
            <a:gdLst/>
            <a:ahLst/>
            <a:cxnLst/>
            <a:rect r="r" b="b" t="t" l="l"/>
            <a:pathLst>
              <a:path h="1120253" w="4598052">
                <a:moveTo>
                  <a:pt x="4598052" y="0"/>
                </a:moveTo>
                <a:lnTo>
                  <a:pt x="0" y="0"/>
                </a:lnTo>
                <a:lnTo>
                  <a:pt x="0" y="1120253"/>
                </a:lnTo>
                <a:lnTo>
                  <a:pt x="4598052" y="1120253"/>
                </a:lnTo>
                <a:lnTo>
                  <a:pt x="4598052"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878475" y="4511763"/>
            <a:ext cx="5236292" cy="4903074"/>
          </a:xfrm>
          <a:custGeom>
            <a:avLst/>
            <a:gdLst/>
            <a:ahLst/>
            <a:cxnLst/>
            <a:rect r="r" b="b" t="t" l="l"/>
            <a:pathLst>
              <a:path h="4903074" w="5236292">
                <a:moveTo>
                  <a:pt x="0" y="0"/>
                </a:moveTo>
                <a:lnTo>
                  <a:pt x="5236292" y="0"/>
                </a:lnTo>
                <a:lnTo>
                  <a:pt x="5236292" y="4903074"/>
                </a:lnTo>
                <a:lnTo>
                  <a:pt x="0" y="490307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2955861" y="1111597"/>
            <a:ext cx="3959812" cy="964754"/>
          </a:xfrm>
          <a:custGeom>
            <a:avLst/>
            <a:gdLst/>
            <a:ahLst/>
            <a:cxnLst/>
            <a:rect r="r" b="b" t="t" l="l"/>
            <a:pathLst>
              <a:path h="964754" w="3959812">
                <a:moveTo>
                  <a:pt x="0" y="0"/>
                </a:moveTo>
                <a:lnTo>
                  <a:pt x="3959812" y="0"/>
                </a:lnTo>
                <a:lnTo>
                  <a:pt x="3959812" y="964754"/>
                </a:lnTo>
                <a:lnTo>
                  <a:pt x="0" y="96475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0" id="20"/>
          <p:cNvGrpSpPr/>
          <p:nvPr/>
        </p:nvGrpSpPr>
        <p:grpSpPr>
          <a:xfrm rot="0">
            <a:off x="7286417" y="3341451"/>
            <a:ext cx="11001583" cy="4179484"/>
            <a:chOff x="0" y="0"/>
            <a:chExt cx="2897536" cy="1100769"/>
          </a:xfrm>
        </p:grpSpPr>
        <p:sp>
          <p:nvSpPr>
            <p:cNvPr name="Freeform 21" id="21"/>
            <p:cNvSpPr/>
            <p:nvPr/>
          </p:nvSpPr>
          <p:spPr>
            <a:xfrm flipH="false" flipV="false" rot="0">
              <a:off x="0" y="0"/>
              <a:ext cx="2897536" cy="1100769"/>
            </a:xfrm>
            <a:custGeom>
              <a:avLst/>
              <a:gdLst/>
              <a:ahLst/>
              <a:cxnLst/>
              <a:rect r="r" b="b" t="t" l="l"/>
              <a:pathLst>
                <a:path h="1100769" w="2897536">
                  <a:moveTo>
                    <a:pt x="35889" y="0"/>
                  </a:moveTo>
                  <a:lnTo>
                    <a:pt x="2861647" y="0"/>
                  </a:lnTo>
                  <a:cubicBezTo>
                    <a:pt x="2881468" y="0"/>
                    <a:pt x="2897536" y="16068"/>
                    <a:pt x="2897536" y="35889"/>
                  </a:cubicBezTo>
                  <a:lnTo>
                    <a:pt x="2897536" y="1064880"/>
                  </a:lnTo>
                  <a:cubicBezTo>
                    <a:pt x="2897536" y="1084701"/>
                    <a:pt x="2881468" y="1100769"/>
                    <a:pt x="2861647" y="1100769"/>
                  </a:cubicBezTo>
                  <a:lnTo>
                    <a:pt x="35889" y="1100769"/>
                  </a:lnTo>
                  <a:cubicBezTo>
                    <a:pt x="16068" y="1100769"/>
                    <a:pt x="0" y="1084701"/>
                    <a:pt x="0" y="1064880"/>
                  </a:cubicBezTo>
                  <a:lnTo>
                    <a:pt x="0" y="35889"/>
                  </a:lnTo>
                  <a:cubicBezTo>
                    <a:pt x="0" y="16068"/>
                    <a:pt x="16068" y="0"/>
                    <a:pt x="35889" y="0"/>
                  </a:cubicBezTo>
                  <a:close/>
                </a:path>
              </a:pathLst>
            </a:custGeom>
            <a:solidFill>
              <a:srgbClr val="007D2A"/>
            </a:solidFill>
          </p:spPr>
        </p:sp>
        <p:sp>
          <p:nvSpPr>
            <p:cNvPr name="TextBox 22" id="22"/>
            <p:cNvSpPr txBox="true"/>
            <p:nvPr/>
          </p:nvSpPr>
          <p:spPr>
            <a:xfrm>
              <a:off x="0" y="-47625"/>
              <a:ext cx="2897536" cy="1148394"/>
            </a:xfrm>
            <a:prstGeom prst="rect">
              <a:avLst/>
            </a:prstGeom>
          </p:spPr>
          <p:txBody>
            <a:bodyPr anchor="ctr" rtlCol="false" tIns="50800" lIns="50800" bIns="50800" rIns="50800"/>
            <a:lstStyle/>
            <a:p>
              <a:pPr algn="ctr">
                <a:lnSpc>
                  <a:spcPts val="2520"/>
                </a:lnSpc>
              </a:pPr>
            </a:p>
          </p:txBody>
        </p:sp>
      </p:grpSp>
      <p:sp>
        <p:nvSpPr>
          <p:cNvPr name="TextBox 23" id="23"/>
          <p:cNvSpPr txBox="true"/>
          <p:nvPr/>
        </p:nvSpPr>
        <p:spPr>
          <a:xfrm rot="0">
            <a:off x="7711413" y="3761041"/>
            <a:ext cx="10186457" cy="3178175"/>
          </a:xfrm>
          <a:prstGeom prst="rect">
            <a:avLst/>
          </a:prstGeom>
        </p:spPr>
        <p:txBody>
          <a:bodyPr anchor="t" rtlCol="false" tIns="0" lIns="0" bIns="0" rIns="0">
            <a:spAutoFit/>
          </a:bodyPr>
          <a:lstStyle/>
          <a:p>
            <a:pPr algn="just">
              <a:lnSpc>
                <a:spcPts val="2800"/>
              </a:lnSpc>
              <a:spcBef>
                <a:spcPct val="0"/>
              </a:spcBef>
            </a:pPr>
            <a:r>
              <a:rPr lang="en-US" sz="2000" spc="136">
                <a:solidFill>
                  <a:srgbClr val="FFFFFF"/>
                </a:solidFill>
                <a:latin typeface="DM Sans"/>
                <a:ea typeface="DM Sans"/>
                <a:cs typeface="DM Sans"/>
                <a:sym typeface="DM Sans"/>
              </a:rPr>
              <a:t>The use of science and technology to investigate and establish facts in criminal or civil courts of law.</a:t>
            </a:r>
          </a:p>
          <a:p>
            <a:pPr algn="just">
              <a:lnSpc>
                <a:spcPts val="2800"/>
              </a:lnSpc>
              <a:spcBef>
                <a:spcPct val="0"/>
              </a:spcBef>
            </a:pPr>
          </a:p>
          <a:p>
            <a:pPr algn="just">
              <a:lnSpc>
                <a:spcPts val="2800"/>
              </a:lnSpc>
              <a:spcBef>
                <a:spcPct val="0"/>
              </a:spcBef>
            </a:pPr>
          </a:p>
          <a:p>
            <a:pPr algn="just">
              <a:lnSpc>
                <a:spcPts val="2800"/>
              </a:lnSpc>
              <a:spcBef>
                <a:spcPct val="0"/>
              </a:spcBef>
            </a:pPr>
            <a:r>
              <a:rPr lang="en-US" b="true" sz="2000" spc="136">
                <a:solidFill>
                  <a:srgbClr val="FFFFFF"/>
                </a:solidFill>
                <a:latin typeface="DM Sans Bold"/>
                <a:ea typeface="DM Sans Bold"/>
                <a:cs typeface="DM Sans Bold"/>
                <a:sym typeface="DM Sans Bold"/>
              </a:rPr>
              <a:t>Done through:</a:t>
            </a:r>
          </a:p>
          <a:p>
            <a:pPr algn="l" marL="431801" indent="-215900" lvl="1">
              <a:lnSpc>
                <a:spcPts val="2800"/>
              </a:lnSpc>
              <a:spcBef>
                <a:spcPct val="0"/>
              </a:spcBef>
              <a:buFont typeface="Arial"/>
              <a:buChar char="•"/>
            </a:pPr>
            <a:r>
              <a:rPr lang="en-US" sz="2000" spc="136">
                <a:solidFill>
                  <a:srgbClr val="FFFFFF"/>
                </a:solidFill>
                <a:latin typeface="DM Sans"/>
                <a:ea typeface="DM Sans"/>
                <a:cs typeface="DM Sans"/>
                <a:sym typeface="DM Sans"/>
              </a:rPr>
              <a:t>Log analysis (Hey callback!)</a:t>
            </a:r>
          </a:p>
          <a:p>
            <a:pPr algn="l" marL="431801" indent="-215900" lvl="1">
              <a:lnSpc>
                <a:spcPts val="2800"/>
              </a:lnSpc>
              <a:spcBef>
                <a:spcPct val="0"/>
              </a:spcBef>
              <a:buFont typeface="Arial"/>
              <a:buChar char="•"/>
            </a:pPr>
            <a:r>
              <a:rPr lang="en-US" sz="2000" spc="136">
                <a:solidFill>
                  <a:srgbClr val="FFFFFF"/>
                </a:solidFill>
                <a:latin typeface="DM Sans"/>
                <a:ea typeface="DM Sans"/>
                <a:cs typeface="DM Sans"/>
                <a:sym typeface="DM Sans"/>
              </a:rPr>
              <a:t>Picking drives apart </a:t>
            </a:r>
          </a:p>
          <a:p>
            <a:pPr algn="l" marL="431801" indent="-215900" lvl="1">
              <a:lnSpc>
                <a:spcPts val="2800"/>
              </a:lnSpc>
              <a:spcBef>
                <a:spcPct val="0"/>
              </a:spcBef>
              <a:buFont typeface="Arial"/>
              <a:buChar char="•"/>
            </a:pPr>
            <a:r>
              <a:rPr lang="en-US" sz="2000" spc="136">
                <a:solidFill>
                  <a:srgbClr val="FFFFFF"/>
                </a:solidFill>
                <a:latin typeface="DM Sans"/>
                <a:ea typeface="DM Sans"/>
                <a:cs typeface="DM Sans"/>
                <a:sym typeface="DM Sans"/>
              </a:rPr>
              <a:t>Adding law and non-repudiation </a:t>
            </a:r>
          </a:p>
          <a:p>
            <a:pPr algn="l" marL="863601" indent="-287867" lvl="2">
              <a:lnSpc>
                <a:spcPts val="2800"/>
              </a:lnSpc>
              <a:spcBef>
                <a:spcPct val="0"/>
              </a:spcBef>
              <a:buFont typeface="Arial"/>
              <a:buChar char="⚬"/>
            </a:pPr>
            <a:r>
              <a:rPr lang="en-US" sz="2000" spc="136">
                <a:solidFill>
                  <a:srgbClr val="FFFFFF"/>
                </a:solidFill>
                <a:latin typeface="DM Sans"/>
                <a:ea typeface="DM Sans"/>
                <a:cs typeface="DM Sans"/>
                <a:sym typeface="DM Sans"/>
              </a:rPr>
              <a:t>Cannot deny actions took place</a:t>
            </a:r>
          </a:p>
        </p:txBody>
      </p:sp>
      <p:sp>
        <p:nvSpPr>
          <p:cNvPr name="TextBox 24" id="24"/>
          <p:cNvSpPr txBox="true"/>
          <p:nvPr/>
        </p:nvSpPr>
        <p:spPr>
          <a:xfrm rot="0">
            <a:off x="7711413" y="1641599"/>
            <a:ext cx="9941102" cy="1552575"/>
          </a:xfrm>
          <a:prstGeom prst="rect">
            <a:avLst/>
          </a:prstGeom>
        </p:spPr>
        <p:txBody>
          <a:bodyPr anchor="t" rtlCol="false" tIns="0" lIns="0" bIns="0" rIns="0">
            <a:spAutoFit/>
          </a:bodyPr>
          <a:lstStyle/>
          <a:p>
            <a:pPr algn="ctr" marL="0" indent="0" lvl="0">
              <a:lnSpc>
                <a:spcPts val="6299"/>
              </a:lnSpc>
            </a:pPr>
            <a:r>
              <a:rPr lang="en-US" sz="4499" spc="-49">
                <a:solidFill>
                  <a:srgbClr val="FFFFFF"/>
                </a:solidFill>
                <a:latin typeface="Press Start 2P"/>
                <a:ea typeface="Press Start 2P"/>
                <a:cs typeface="Press Start 2P"/>
                <a:sym typeface="Press Start 2P"/>
              </a:rPr>
              <a:t>WHAT IS COMPUTER FORENSICS?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62655" y="2460867"/>
            <a:ext cx="9615603" cy="3736254"/>
            <a:chOff x="0" y="0"/>
            <a:chExt cx="2532505" cy="984034"/>
          </a:xfrm>
        </p:grpSpPr>
        <p:sp>
          <p:nvSpPr>
            <p:cNvPr name="Freeform 5" id="5"/>
            <p:cNvSpPr/>
            <p:nvPr/>
          </p:nvSpPr>
          <p:spPr>
            <a:xfrm flipH="false" flipV="false" rot="0">
              <a:off x="0" y="0"/>
              <a:ext cx="2532505" cy="984034"/>
            </a:xfrm>
            <a:custGeom>
              <a:avLst/>
              <a:gdLst/>
              <a:ahLst/>
              <a:cxnLst/>
              <a:rect r="r" b="b" t="t" l="l"/>
              <a:pathLst>
                <a:path h="984034" w="2532505">
                  <a:moveTo>
                    <a:pt x="41062" y="0"/>
                  </a:moveTo>
                  <a:lnTo>
                    <a:pt x="2491442" y="0"/>
                  </a:lnTo>
                  <a:cubicBezTo>
                    <a:pt x="2514120" y="0"/>
                    <a:pt x="2532505" y="18384"/>
                    <a:pt x="2532505" y="41062"/>
                  </a:cubicBezTo>
                  <a:lnTo>
                    <a:pt x="2532505" y="942972"/>
                  </a:lnTo>
                  <a:cubicBezTo>
                    <a:pt x="2532505" y="965650"/>
                    <a:pt x="2514120" y="984034"/>
                    <a:pt x="2491442" y="984034"/>
                  </a:cubicBezTo>
                  <a:lnTo>
                    <a:pt x="41062" y="984034"/>
                  </a:lnTo>
                  <a:cubicBezTo>
                    <a:pt x="18384" y="984034"/>
                    <a:pt x="0" y="965650"/>
                    <a:pt x="0" y="942972"/>
                  </a:cubicBezTo>
                  <a:lnTo>
                    <a:pt x="0" y="41062"/>
                  </a:lnTo>
                  <a:cubicBezTo>
                    <a:pt x="0" y="18384"/>
                    <a:pt x="18384" y="0"/>
                    <a:pt x="41062" y="0"/>
                  </a:cubicBezTo>
                  <a:close/>
                </a:path>
              </a:pathLst>
            </a:custGeom>
            <a:solidFill>
              <a:srgbClr val="2E1B5B"/>
            </a:solidFill>
          </p:spPr>
        </p:sp>
        <p:sp>
          <p:nvSpPr>
            <p:cNvPr name="TextBox 6" id="6"/>
            <p:cNvSpPr txBox="true"/>
            <p:nvPr/>
          </p:nvSpPr>
          <p:spPr>
            <a:xfrm>
              <a:off x="0" y="-47625"/>
              <a:ext cx="2532505" cy="1031659"/>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false" flipV="false" rot="0">
            <a:off x="9542522" y="564354"/>
            <a:ext cx="2210639" cy="1000817"/>
          </a:xfrm>
          <a:custGeom>
            <a:avLst/>
            <a:gdLst/>
            <a:ahLst/>
            <a:cxnLst/>
            <a:rect r="r" b="b" t="t" l="l"/>
            <a:pathLst>
              <a:path h="1000817" w="2210639">
                <a:moveTo>
                  <a:pt x="0" y="0"/>
                </a:moveTo>
                <a:lnTo>
                  <a:pt x="2210639" y="0"/>
                </a:lnTo>
                <a:lnTo>
                  <a:pt x="2210639" y="1000817"/>
                </a:lnTo>
                <a:lnTo>
                  <a:pt x="0" y="10008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true" flipV="false" rot="0">
            <a:off x="11753161" y="2716036"/>
            <a:ext cx="3568101" cy="869319"/>
          </a:xfrm>
          <a:custGeom>
            <a:avLst/>
            <a:gdLst/>
            <a:ahLst/>
            <a:cxnLst/>
            <a:rect r="r" b="b" t="t" l="l"/>
            <a:pathLst>
              <a:path h="869319" w="3568101">
                <a:moveTo>
                  <a:pt x="3568101" y="0"/>
                </a:moveTo>
                <a:lnTo>
                  <a:pt x="0" y="0"/>
                </a:lnTo>
                <a:lnTo>
                  <a:pt x="0" y="869319"/>
                </a:lnTo>
                <a:lnTo>
                  <a:pt x="3568101" y="869319"/>
                </a:lnTo>
                <a:lnTo>
                  <a:pt x="356810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14776699" y="564354"/>
            <a:ext cx="3959812" cy="964754"/>
          </a:xfrm>
          <a:custGeom>
            <a:avLst/>
            <a:gdLst/>
            <a:ahLst/>
            <a:cxnLst/>
            <a:rect r="r" b="b" t="t" l="l"/>
            <a:pathLst>
              <a:path h="964754" w="3959812">
                <a:moveTo>
                  <a:pt x="0" y="0"/>
                </a:moveTo>
                <a:lnTo>
                  <a:pt x="3959812" y="0"/>
                </a:lnTo>
                <a:lnTo>
                  <a:pt x="3959812" y="964754"/>
                </a:lnTo>
                <a:lnTo>
                  <a:pt x="0" y="964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12391409" y="4321609"/>
            <a:ext cx="5093228" cy="5093228"/>
          </a:xfrm>
          <a:custGeom>
            <a:avLst/>
            <a:gdLst/>
            <a:ahLst/>
            <a:cxnLst/>
            <a:rect r="r" b="b" t="t" l="l"/>
            <a:pathLst>
              <a:path h="5093228" w="5093228">
                <a:moveTo>
                  <a:pt x="0" y="0"/>
                </a:moveTo>
                <a:lnTo>
                  <a:pt x="5093228" y="0"/>
                </a:lnTo>
                <a:lnTo>
                  <a:pt x="5093228" y="5093228"/>
                </a:lnTo>
                <a:lnTo>
                  <a:pt x="0" y="509322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0">
            <a:off x="10768587" y="7514783"/>
            <a:ext cx="984573" cy="1900054"/>
          </a:xfrm>
          <a:custGeom>
            <a:avLst/>
            <a:gdLst/>
            <a:ahLst/>
            <a:cxnLst/>
            <a:rect r="r" b="b" t="t" l="l"/>
            <a:pathLst>
              <a:path h="1900054" w="984573">
                <a:moveTo>
                  <a:pt x="0" y="0"/>
                </a:moveTo>
                <a:lnTo>
                  <a:pt x="984574" y="0"/>
                </a:lnTo>
                <a:lnTo>
                  <a:pt x="984574" y="1900054"/>
                </a:lnTo>
                <a:lnTo>
                  <a:pt x="0" y="190005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3" id="23"/>
          <p:cNvSpPr txBox="true"/>
          <p:nvPr/>
        </p:nvSpPr>
        <p:spPr>
          <a:xfrm rot="0">
            <a:off x="801213" y="1443383"/>
            <a:ext cx="9393932" cy="762000"/>
          </a:xfrm>
          <a:prstGeom prst="rect">
            <a:avLst/>
          </a:prstGeom>
        </p:spPr>
        <p:txBody>
          <a:bodyPr anchor="t" rtlCol="false" tIns="0" lIns="0" bIns="0" rIns="0">
            <a:spAutoFit/>
          </a:bodyPr>
          <a:lstStyle/>
          <a:p>
            <a:pPr algn="l" marL="0" indent="0" lvl="0">
              <a:lnSpc>
                <a:spcPts val="6299"/>
              </a:lnSpc>
            </a:pPr>
            <a:r>
              <a:rPr lang="en-US" sz="4499" spc="-49">
                <a:solidFill>
                  <a:srgbClr val="FFFFFF"/>
                </a:solidFill>
                <a:latin typeface="Press Start 2P"/>
                <a:ea typeface="Press Start 2P"/>
                <a:cs typeface="Press Start 2P"/>
                <a:sym typeface="Press Start 2P"/>
              </a:rPr>
              <a:t>RIGHT. HOW?</a:t>
            </a:r>
          </a:p>
        </p:txBody>
      </p:sp>
      <p:sp>
        <p:nvSpPr>
          <p:cNvPr name="TextBox 24" id="24"/>
          <p:cNvSpPr txBox="true"/>
          <p:nvPr/>
        </p:nvSpPr>
        <p:spPr>
          <a:xfrm rot="0">
            <a:off x="801213" y="2584008"/>
            <a:ext cx="8342787" cy="3178175"/>
          </a:xfrm>
          <a:prstGeom prst="rect">
            <a:avLst/>
          </a:prstGeom>
        </p:spPr>
        <p:txBody>
          <a:bodyPr anchor="t" rtlCol="false" tIns="0" lIns="0" bIns="0" rIns="0">
            <a:spAutoFit/>
          </a:bodyPr>
          <a:lstStyle/>
          <a:p>
            <a:pPr algn="just">
              <a:lnSpc>
                <a:spcPts val="2800"/>
              </a:lnSpc>
            </a:pPr>
            <a:r>
              <a:rPr lang="en-US" sz="2000" spc="136">
                <a:solidFill>
                  <a:srgbClr val="FFFFFF"/>
                </a:solidFill>
                <a:latin typeface="DM Sans"/>
                <a:ea typeface="DM Sans"/>
                <a:cs typeface="DM Sans"/>
                <a:sym typeface="DM Sans"/>
              </a:rPr>
              <a:t>Forensics can be done in serveral ways</a:t>
            </a:r>
          </a:p>
          <a:p>
            <a:pPr algn="l" marL="431801" indent="-215900" lvl="1">
              <a:lnSpc>
                <a:spcPts val="2800"/>
              </a:lnSpc>
              <a:buFont typeface="Arial"/>
              <a:buChar char="•"/>
            </a:pPr>
            <a:r>
              <a:rPr lang="en-US" sz="2000" spc="136">
                <a:solidFill>
                  <a:srgbClr val="FFFFFF"/>
                </a:solidFill>
                <a:latin typeface="DM Sans"/>
                <a:ea typeface="DM Sans"/>
                <a:cs typeface="DM Sans"/>
                <a:sym typeface="DM Sans"/>
              </a:rPr>
              <a:t>Log analysis via static log files (Common CTF Challenge)</a:t>
            </a:r>
          </a:p>
          <a:p>
            <a:pPr algn="l" marL="431801" indent="-215900" lvl="1">
              <a:lnSpc>
                <a:spcPts val="2800"/>
              </a:lnSpc>
              <a:buFont typeface="Arial"/>
              <a:buChar char="•"/>
            </a:pPr>
            <a:r>
              <a:rPr lang="en-US" sz="2000" spc="136">
                <a:solidFill>
                  <a:srgbClr val="FFFFFF"/>
                </a:solidFill>
                <a:latin typeface="DM Sans"/>
                <a:ea typeface="DM Sans"/>
                <a:cs typeface="DM Sans"/>
                <a:sym typeface="DM Sans"/>
              </a:rPr>
              <a:t>Analysis of an entire disk image of a computer</a:t>
            </a:r>
          </a:p>
          <a:p>
            <a:pPr algn="l" marL="431801" indent="-215900" lvl="1">
              <a:lnSpc>
                <a:spcPts val="2800"/>
              </a:lnSpc>
              <a:buFont typeface="Arial"/>
              <a:buChar char="•"/>
            </a:pPr>
            <a:r>
              <a:rPr lang="en-US" sz="2000" spc="136">
                <a:solidFill>
                  <a:srgbClr val="FFFFFF"/>
                </a:solidFill>
                <a:latin typeface="DM Sans"/>
                <a:ea typeface="DM Sans"/>
                <a:cs typeface="DM Sans"/>
                <a:sym typeface="DM Sans"/>
              </a:rPr>
              <a:t>Analysis of the memory or programs of a computer</a:t>
            </a:r>
          </a:p>
          <a:p>
            <a:pPr algn="l" marL="431801" indent="-215900" lvl="1">
              <a:lnSpc>
                <a:spcPts val="2800"/>
              </a:lnSpc>
              <a:buFont typeface="Arial"/>
              <a:buChar char="•"/>
            </a:pPr>
            <a:r>
              <a:rPr lang="en-US" sz="2000" spc="136">
                <a:solidFill>
                  <a:srgbClr val="FFFFFF"/>
                </a:solidFill>
                <a:latin typeface="DM Sans"/>
                <a:ea typeface="DM Sans"/>
                <a:cs typeface="DM Sans"/>
                <a:sym typeface="DM Sans"/>
              </a:rPr>
              <a:t>Tracing of an email back to original sender</a:t>
            </a:r>
          </a:p>
          <a:p>
            <a:pPr algn="l">
              <a:lnSpc>
                <a:spcPts val="2800"/>
              </a:lnSpc>
            </a:pPr>
          </a:p>
          <a:p>
            <a:pPr algn="l">
              <a:lnSpc>
                <a:spcPts val="2800"/>
              </a:lnSpc>
            </a:pPr>
            <a:r>
              <a:rPr lang="en-US" sz="2000" spc="136">
                <a:solidFill>
                  <a:srgbClr val="FFFFFF"/>
                </a:solidFill>
                <a:latin typeface="DM Sans"/>
                <a:ea typeface="DM Sans"/>
                <a:cs typeface="DM Sans"/>
                <a:sym typeface="DM Sans"/>
              </a:rPr>
              <a:t>The important distinction between forensics and incident repsonse is time. Responders have limited time while forensics can take place over months long time periods.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919360" y="3840016"/>
            <a:ext cx="3959812" cy="964754"/>
          </a:xfrm>
          <a:custGeom>
            <a:avLst/>
            <a:gdLst/>
            <a:ahLst/>
            <a:cxnLst/>
            <a:rect r="r" b="b" t="t" l="l"/>
            <a:pathLst>
              <a:path h="964754" w="3959812">
                <a:moveTo>
                  <a:pt x="0" y="0"/>
                </a:moveTo>
                <a:lnTo>
                  <a:pt x="3959812" y="0"/>
                </a:lnTo>
                <a:lnTo>
                  <a:pt x="3959812" y="964755"/>
                </a:lnTo>
                <a:lnTo>
                  <a:pt x="0" y="9647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5104655" y="1210366"/>
            <a:ext cx="8078690" cy="1552575"/>
          </a:xfrm>
          <a:prstGeom prst="rect">
            <a:avLst/>
          </a:prstGeom>
        </p:spPr>
        <p:txBody>
          <a:bodyPr anchor="t" rtlCol="false" tIns="0" lIns="0" bIns="0" rIns="0">
            <a:spAutoFit/>
          </a:bodyPr>
          <a:lstStyle/>
          <a:p>
            <a:pPr algn="ctr" marL="0" indent="0" lvl="0">
              <a:lnSpc>
                <a:spcPts val="6299"/>
              </a:lnSpc>
            </a:pPr>
            <a:r>
              <a:rPr lang="en-US" sz="4499" spc="-49">
                <a:solidFill>
                  <a:srgbClr val="FFFFFF"/>
                </a:solidFill>
                <a:latin typeface="Press Start 2P"/>
                <a:ea typeface="Press Start 2P"/>
                <a:cs typeface="Press Start 2P"/>
                <a:sym typeface="Press Start 2P"/>
              </a:rPr>
              <a:t>LETS LEARN LOG FORENSICS</a:t>
            </a:r>
          </a:p>
        </p:txBody>
      </p:sp>
      <p:grpSp>
        <p:nvGrpSpPr>
          <p:cNvPr name="Group 17" id="17"/>
          <p:cNvGrpSpPr/>
          <p:nvPr/>
        </p:nvGrpSpPr>
        <p:grpSpPr>
          <a:xfrm rot="0">
            <a:off x="1107806" y="6868343"/>
            <a:ext cx="16072387" cy="1773389"/>
            <a:chOff x="0" y="0"/>
            <a:chExt cx="21429850" cy="2364519"/>
          </a:xfrm>
        </p:grpSpPr>
        <p:sp>
          <p:nvSpPr>
            <p:cNvPr name="Freeform 18" id="18"/>
            <p:cNvSpPr/>
            <p:nvPr/>
          </p:nvSpPr>
          <p:spPr>
            <a:xfrm flipH="false" flipV="false" rot="0">
              <a:off x="0"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3023081"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5680942"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8704024"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11358145"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3" id="23"/>
            <p:cNvSpPr/>
            <p:nvPr/>
          </p:nvSpPr>
          <p:spPr>
            <a:xfrm flipH="false" flipV="false" rot="0">
              <a:off x="14381226"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17035347"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20058428" y="0"/>
              <a:ext cx="1371421" cy="2364519"/>
            </a:xfrm>
            <a:custGeom>
              <a:avLst/>
              <a:gdLst/>
              <a:ahLst/>
              <a:cxnLst/>
              <a:rect r="r" b="b" t="t" l="l"/>
              <a:pathLst>
                <a:path h="2364519" w="1371421">
                  <a:moveTo>
                    <a:pt x="0" y="0"/>
                  </a:moveTo>
                  <a:lnTo>
                    <a:pt x="1371422" y="0"/>
                  </a:lnTo>
                  <a:lnTo>
                    <a:pt x="1371422"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26" id="26"/>
          <p:cNvGrpSpPr/>
          <p:nvPr/>
        </p:nvGrpSpPr>
        <p:grpSpPr>
          <a:xfrm rot="0">
            <a:off x="3730016" y="2762942"/>
            <a:ext cx="10507212" cy="3647110"/>
            <a:chOff x="0" y="0"/>
            <a:chExt cx="2767332" cy="960556"/>
          </a:xfrm>
        </p:grpSpPr>
        <p:sp>
          <p:nvSpPr>
            <p:cNvPr name="Freeform 27" id="27"/>
            <p:cNvSpPr/>
            <p:nvPr/>
          </p:nvSpPr>
          <p:spPr>
            <a:xfrm flipH="false" flipV="false" rot="0">
              <a:off x="0" y="0"/>
              <a:ext cx="2767332" cy="960556"/>
            </a:xfrm>
            <a:custGeom>
              <a:avLst/>
              <a:gdLst/>
              <a:ahLst/>
              <a:cxnLst/>
              <a:rect r="r" b="b" t="t" l="l"/>
              <a:pathLst>
                <a:path h="960556" w="2767332">
                  <a:moveTo>
                    <a:pt x="37578" y="0"/>
                  </a:moveTo>
                  <a:lnTo>
                    <a:pt x="2729754" y="0"/>
                  </a:lnTo>
                  <a:cubicBezTo>
                    <a:pt x="2739720" y="0"/>
                    <a:pt x="2749278" y="3959"/>
                    <a:pt x="2756325" y="11006"/>
                  </a:cubicBezTo>
                  <a:cubicBezTo>
                    <a:pt x="2763373" y="18053"/>
                    <a:pt x="2767332" y="27612"/>
                    <a:pt x="2767332" y="37578"/>
                  </a:cubicBezTo>
                  <a:lnTo>
                    <a:pt x="2767332" y="922978"/>
                  </a:lnTo>
                  <a:cubicBezTo>
                    <a:pt x="2767332" y="943732"/>
                    <a:pt x="2750507" y="960556"/>
                    <a:pt x="2729754" y="960556"/>
                  </a:cubicBezTo>
                  <a:lnTo>
                    <a:pt x="37578" y="960556"/>
                  </a:lnTo>
                  <a:cubicBezTo>
                    <a:pt x="27612" y="960556"/>
                    <a:pt x="18053" y="956597"/>
                    <a:pt x="11006" y="949549"/>
                  </a:cubicBezTo>
                  <a:cubicBezTo>
                    <a:pt x="3959" y="942502"/>
                    <a:pt x="0" y="932944"/>
                    <a:pt x="0" y="922978"/>
                  </a:cubicBezTo>
                  <a:lnTo>
                    <a:pt x="0" y="37578"/>
                  </a:lnTo>
                  <a:cubicBezTo>
                    <a:pt x="0" y="16824"/>
                    <a:pt x="16824" y="0"/>
                    <a:pt x="37578" y="0"/>
                  </a:cubicBezTo>
                  <a:close/>
                </a:path>
              </a:pathLst>
            </a:custGeom>
            <a:solidFill>
              <a:srgbClr val="2E1B5B"/>
            </a:solidFill>
          </p:spPr>
        </p:sp>
        <p:sp>
          <p:nvSpPr>
            <p:cNvPr name="TextBox 28" id="28"/>
            <p:cNvSpPr txBox="true"/>
            <p:nvPr/>
          </p:nvSpPr>
          <p:spPr>
            <a:xfrm>
              <a:off x="0" y="-47625"/>
              <a:ext cx="2767332" cy="1008181"/>
            </a:xfrm>
            <a:prstGeom prst="rect">
              <a:avLst/>
            </a:prstGeom>
          </p:spPr>
          <p:txBody>
            <a:bodyPr anchor="ctr" rtlCol="false" tIns="50800" lIns="50800" bIns="50800" rIns="50800"/>
            <a:lstStyle/>
            <a:p>
              <a:pPr algn="ctr">
                <a:lnSpc>
                  <a:spcPts val="2520"/>
                </a:lnSpc>
              </a:pPr>
            </a:p>
          </p:txBody>
        </p:sp>
      </p:grpSp>
      <p:sp>
        <p:nvSpPr>
          <p:cNvPr name="TextBox 29" id="29"/>
          <p:cNvSpPr txBox="true"/>
          <p:nvPr/>
        </p:nvSpPr>
        <p:spPr>
          <a:xfrm rot="0">
            <a:off x="4050772" y="3405449"/>
            <a:ext cx="10186457" cy="2463800"/>
          </a:xfrm>
          <a:prstGeom prst="rect">
            <a:avLst/>
          </a:prstGeom>
        </p:spPr>
        <p:txBody>
          <a:bodyPr anchor="t" rtlCol="false" tIns="0" lIns="0" bIns="0" rIns="0">
            <a:spAutoFit/>
          </a:bodyPr>
          <a:lstStyle/>
          <a:p>
            <a:pPr algn="just">
              <a:lnSpc>
                <a:spcPts val="2800"/>
              </a:lnSpc>
            </a:pPr>
            <a:r>
              <a:rPr lang="en-US" sz="2000" spc="136">
                <a:solidFill>
                  <a:srgbClr val="FFFFFF"/>
                </a:solidFill>
                <a:latin typeface="DM Sans"/>
                <a:ea typeface="DM Sans"/>
                <a:cs typeface="DM Sans"/>
                <a:sym typeface="DM Sans"/>
              </a:rPr>
              <a:t>We will break down a sample file using linux commands.</a:t>
            </a:r>
          </a:p>
          <a:p>
            <a:pPr algn="just">
              <a:lnSpc>
                <a:spcPts val="2800"/>
              </a:lnSpc>
            </a:pPr>
          </a:p>
          <a:p>
            <a:pPr algn="l" marL="431801" indent="-215900" lvl="1">
              <a:lnSpc>
                <a:spcPts val="2800"/>
              </a:lnSpc>
              <a:buFont typeface="Arial"/>
              <a:buChar char="•"/>
            </a:pPr>
            <a:r>
              <a:rPr lang="en-US" sz="2000" spc="136">
                <a:solidFill>
                  <a:srgbClr val="FFFFFF"/>
                </a:solidFill>
                <a:latin typeface="DM Sans"/>
                <a:ea typeface="DM Sans"/>
                <a:cs typeface="DM Sans"/>
                <a:sym typeface="DM Sans"/>
              </a:rPr>
              <a:t>Linux is a scary tool because of it’s terminal</a:t>
            </a:r>
          </a:p>
          <a:p>
            <a:pPr algn="l" marL="431801" indent="-215900" lvl="1">
              <a:lnSpc>
                <a:spcPts val="2800"/>
              </a:lnSpc>
              <a:buFont typeface="Arial"/>
              <a:buChar char="•"/>
            </a:pPr>
            <a:r>
              <a:rPr lang="en-US" sz="2000" spc="136">
                <a:solidFill>
                  <a:srgbClr val="FFFFFF"/>
                </a:solidFill>
                <a:latin typeface="DM Sans"/>
                <a:ea typeface="DM Sans"/>
                <a:cs typeface="DM Sans"/>
                <a:sym typeface="DM Sans"/>
              </a:rPr>
              <a:t>AND its an amazing tool because of its terminal</a:t>
            </a:r>
          </a:p>
          <a:p>
            <a:pPr algn="l">
              <a:lnSpc>
                <a:spcPts val="2800"/>
              </a:lnSpc>
            </a:pPr>
          </a:p>
          <a:p>
            <a:pPr algn="l">
              <a:lnSpc>
                <a:spcPts val="2800"/>
              </a:lnSpc>
              <a:spcBef>
                <a:spcPct val="0"/>
              </a:spcBef>
            </a:pPr>
            <a:r>
              <a:rPr lang="en-US" sz="2000" spc="136">
                <a:solidFill>
                  <a:srgbClr val="FFFFFF"/>
                </a:solidFill>
                <a:latin typeface="DM Sans"/>
                <a:ea typeface="DM Sans"/>
                <a:cs typeface="DM Sans"/>
                <a:sym typeface="DM Sans"/>
              </a:rPr>
              <a:t>A set of 5 commands however will get you through many CTF and future interview questions.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176943" y="7451924"/>
            <a:ext cx="579662" cy="1265135"/>
          </a:xfrm>
          <a:custGeom>
            <a:avLst/>
            <a:gdLst/>
            <a:ahLst/>
            <a:cxnLst/>
            <a:rect r="r" b="b" t="t" l="l"/>
            <a:pathLst>
              <a:path h="1265135" w="579662">
                <a:moveTo>
                  <a:pt x="0" y="0"/>
                </a:moveTo>
                <a:lnTo>
                  <a:pt x="579662" y="0"/>
                </a:lnTo>
                <a:lnTo>
                  <a:pt x="579662" y="1265136"/>
                </a:lnTo>
                <a:lnTo>
                  <a:pt x="0" y="12651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3773125" y="7883807"/>
            <a:ext cx="3226307" cy="1531029"/>
          </a:xfrm>
          <a:custGeom>
            <a:avLst/>
            <a:gdLst/>
            <a:ahLst/>
            <a:cxnLst/>
            <a:rect r="r" b="b" t="t" l="l"/>
            <a:pathLst>
              <a:path h="1531029" w="3226307">
                <a:moveTo>
                  <a:pt x="0" y="0"/>
                </a:moveTo>
                <a:lnTo>
                  <a:pt x="3226307" y="0"/>
                </a:lnTo>
                <a:lnTo>
                  <a:pt x="3226307" y="1531030"/>
                </a:lnTo>
                <a:lnTo>
                  <a:pt x="0" y="15310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4869598" y="8084492"/>
            <a:ext cx="1033361" cy="668867"/>
          </a:xfrm>
          <a:custGeom>
            <a:avLst/>
            <a:gdLst/>
            <a:ahLst/>
            <a:cxnLst/>
            <a:rect r="r" b="b" t="t" l="l"/>
            <a:pathLst>
              <a:path h="668867" w="1033361">
                <a:moveTo>
                  <a:pt x="0" y="0"/>
                </a:moveTo>
                <a:lnTo>
                  <a:pt x="1033361" y="0"/>
                </a:lnTo>
                <a:lnTo>
                  <a:pt x="1033361" y="668867"/>
                </a:lnTo>
                <a:lnTo>
                  <a:pt x="0" y="66886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7489418" y="8252389"/>
            <a:ext cx="646744" cy="1162448"/>
          </a:xfrm>
          <a:custGeom>
            <a:avLst/>
            <a:gdLst/>
            <a:ahLst/>
            <a:cxnLst/>
            <a:rect r="r" b="b" t="t" l="l"/>
            <a:pathLst>
              <a:path h="1162448" w="646744">
                <a:moveTo>
                  <a:pt x="0" y="0"/>
                </a:moveTo>
                <a:lnTo>
                  <a:pt x="646744" y="0"/>
                </a:lnTo>
                <a:lnTo>
                  <a:pt x="646744" y="1162448"/>
                </a:lnTo>
                <a:lnTo>
                  <a:pt x="0" y="116244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true" flipV="false" rot="0">
            <a:off x="17122761" y="7418055"/>
            <a:ext cx="579662" cy="1265135"/>
          </a:xfrm>
          <a:custGeom>
            <a:avLst/>
            <a:gdLst/>
            <a:ahLst/>
            <a:cxnLst/>
            <a:rect r="r" b="b" t="t" l="l"/>
            <a:pathLst>
              <a:path h="1265135" w="579662">
                <a:moveTo>
                  <a:pt x="579662" y="0"/>
                </a:moveTo>
                <a:lnTo>
                  <a:pt x="0" y="0"/>
                </a:lnTo>
                <a:lnTo>
                  <a:pt x="0" y="1265136"/>
                </a:lnTo>
                <a:lnTo>
                  <a:pt x="579662" y="1265136"/>
                </a:lnTo>
                <a:lnTo>
                  <a:pt x="579662"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p:nvPr/>
        </p:nvGrpSpPr>
        <p:grpSpPr>
          <a:xfrm rot="0">
            <a:off x="153873" y="3600450"/>
            <a:ext cx="3429021" cy="3086100"/>
            <a:chOff x="0" y="0"/>
            <a:chExt cx="903117" cy="812800"/>
          </a:xfrm>
        </p:grpSpPr>
        <p:sp>
          <p:nvSpPr>
            <p:cNvPr name="Freeform 21" id="21"/>
            <p:cNvSpPr/>
            <p:nvPr/>
          </p:nvSpPr>
          <p:spPr>
            <a:xfrm flipH="false" flipV="false" rot="0">
              <a:off x="0" y="0"/>
              <a:ext cx="903117" cy="812800"/>
            </a:xfrm>
            <a:custGeom>
              <a:avLst/>
              <a:gdLst/>
              <a:ahLst/>
              <a:cxnLst/>
              <a:rect r="r" b="b" t="t" l="l"/>
              <a:pathLst>
                <a:path h="812800" w="903117">
                  <a:moveTo>
                    <a:pt x="115146" y="0"/>
                  </a:moveTo>
                  <a:lnTo>
                    <a:pt x="787971" y="0"/>
                  </a:lnTo>
                  <a:cubicBezTo>
                    <a:pt x="818509" y="0"/>
                    <a:pt x="847797" y="12131"/>
                    <a:pt x="869391" y="33725"/>
                  </a:cubicBezTo>
                  <a:cubicBezTo>
                    <a:pt x="890985" y="55320"/>
                    <a:pt x="903117" y="84607"/>
                    <a:pt x="903117" y="115146"/>
                  </a:cubicBezTo>
                  <a:lnTo>
                    <a:pt x="903117" y="697654"/>
                  </a:lnTo>
                  <a:cubicBezTo>
                    <a:pt x="903117" y="761247"/>
                    <a:pt x="851564" y="812800"/>
                    <a:pt x="787971" y="812800"/>
                  </a:cubicBezTo>
                  <a:lnTo>
                    <a:pt x="115146" y="812800"/>
                  </a:lnTo>
                  <a:cubicBezTo>
                    <a:pt x="51553" y="812800"/>
                    <a:pt x="0" y="761247"/>
                    <a:pt x="0" y="697654"/>
                  </a:cubicBezTo>
                  <a:lnTo>
                    <a:pt x="0" y="115146"/>
                  </a:lnTo>
                  <a:cubicBezTo>
                    <a:pt x="0" y="51553"/>
                    <a:pt x="51553" y="0"/>
                    <a:pt x="115146" y="0"/>
                  </a:cubicBezTo>
                  <a:close/>
                </a:path>
              </a:pathLst>
            </a:custGeom>
            <a:solidFill>
              <a:srgbClr val="007D2A"/>
            </a:solidFill>
          </p:spPr>
        </p:sp>
        <p:sp>
          <p:nvSpPr>
            <p:cNvPr name="TextBox 22" id="22"/>
            <p:cNvSpPr txBox="true"/>
            <p:nvPr/>
          </p:nvSpPr>
          <p:spPr>
            <a:xfrm>
              <a:off x="0" y="-47625"/>
              <a:ext cx="903117" cy="860425"/>
            </a:xfrm>
            <a:prstGeom prst="rect">
              <a:avLst/>
            </a:prstGeom>
          </p:spPr>
          <p:txBody>
            <a:bodyPr anchor="ctr" rtlCol="false" tIns="50800" lIns="50800" bIns="50800" rIns="50800"/>
            <a:lstStyle/>
            <a:p>
              <a:pPr algn="ctr">
                <a:lnSpc>
                  <a:spcPts val="2520"/>
                </a:lnSpc>
              </a:pPr>
            </a:p>
          </p:txBody>
        </p:sp>
      </p:grpSp>
      <p:sp>
        <p:nvSpPr>
          <p:cNvPr name="TextBox 23" id="23"/>
          <p:cNvSpPr txBox="true"/>
          <p:nvPr/>
        </p:nvSpPr>
        <p:spPr>
          <a:xfrm rot="0">
            <a:off x="5104655" y="1730768"/>
            <a:ext cx="8078690" cy="762000"/>
          </a:xfrm>
          <a:prstGeom prst="rect">
            <a:avLst/>
          </a:prstGeom>
        </p:spPr>
        <p:txBody>
          <a:bodyPr anchor="t" rtlCol="false" tIns="0" lIns="0" bIns="0" rIns="0">
            <a:spAutoFit/>
          </a:bodyPr>
          <a:lstStyle/>
          <a:p>
            <a:pPr algn="ctr" marL="0" indent="0" lvl="0">
              <a:lnSpc>
                <a:spcPts val="6299"/>
              </a:lnSpc>
            </a:pPr>
            <a:r>
              <a:rPr lang="en-US" sz="4499" spc="-49">
                <a:solidFill>
                  <a:srgbClr val="FFFFFF"/>
                </a:solidFill>
                <a:latin typeface="Press Start 2P"/>
                <a:ea typeface="Press Start 2P"/>
                <a:cs typeface="Press Start 2P"/>
                <a:sym typeface="Press Start 2P"/>
              </a:rPr>
              <a:t>LINUX COMMANDS</a:t>
            </a:r>
          </a:p>
        </p:txBody>
      </p:sp>
      <p:sp>
        <p:nvSpPr>
          <p:cNvPr name="TextBox 24" id="24"/>
          <p:cNvSpPr txBox="true"/>
          <p:nvPr/>
        </p:nvSpPr>
        <p:spPr>
          <a:xfrm rot="0">
            <a:off x="153873" y="3774567"/>
            <a:ext cx="3429021" cy="316230"/>
          </a:xfrm>
          <a:prstGeom prst="rect">
            <a:avLst/>
          </a:prstGeom>
        </p:spPr>
        <p:txBody>
          <a:bodyPr anchor="t" rtlCol="false" tIns="0" lIns="0" bIns="0" rIns="0">
            <a:spAutoFit/>
          </a:bodyPr>
          <a:lstStyle/>
          <a:p>
            <a:pPr algn="ctr">
              <a:lnSpc>
                <a:spcPts val="2520"/>
              </a:lnSpc>
              <a:spcBef>
                <a:spcPct val="0"/>
              </a:spcBef>
            </a:pPr>
            <a:r>
              <a:rPr lang="en-US" sz="1800" spc="-19">
                <a:solidFill>
                  <a:srgbClr val="FFFFFF"/>
                </a:solidFill>
                <a:latin typeface="Press Start 2P"/>
                <a:ea typeface="Press Start 2P"/>
                <a:cs typeface="Press Start 2P"/>
                <a:sym typeface="Press Start 2P"/>
              </a:rPr>
              <a:t>CAT (FILENAME)</a:t>
            </a:r>
          </a:p>
        </p:txBody>
      </p:sp>
      <p:sp>
        <p:nvSpPr>
          <p:cNvPr name="TextBox 25" id="25"/>
          <p:cNvSpPr txBox="true"/>
          <p:nvPr/>
        </p:nvSpPr>
        <p:spPr>
          <a:xfrm rot="0">
            <a:off x="269371" y="4298160"/>
            <a:ext cx="3198025" cy="1054100"/>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Will print the raw contents of the file to the screen</a:t>
            </a:r>
          </a:p>
        </p:txBody>
      </p:sp>
      <p:grpSp>
        <p:nvGrpSpPr>
          <p:cNvPr name="Group 26" id="26"/>
          <p:cNvGrpSpPr/>
          <p:nvPr/>
        </p:nvGrpSpPr>
        <p:grpSpPr>
          <a:xfrm rot="0">
            <a:off x="7373147" y="3600450"/>
            <a:ext cx="3429021" cy="3086100"/>
            <a:chOff x="0" y="0"/>
            <a:chExt cx="903117" cy="812800"/>
          </a:xfrm>
        </p:grpSpPr>
        <p:sp>
          <p:nvSpPr>
            <p:cNvPr name="Freeform 27" id="27"/>
            <p:cNvSpPr/>
            <p:nvPr/>
          </p:nvSpPr>
          <p:spPr>
            <a:xfrm flipH="false" flipV="false" rot="0">
              <a:off x="0" y="0"/>
              <a:ext cx="903117" cy="812800"/>
            </a:xfrm>
            <a:custGeom>
              <a:avLst/>
              <a:gdLst/>
              <a:ahLst/>
              <a:cxnLst/>
              <a:rect r="r" b="b" t="t" l="l"/>
              <a:pathLst>
                <a:path h="812800" w="903117">
                  <a:moveTo>
                    <a:pt x="115146" y="0"/>
                  </a:moveTo>
                  <a:lnTo>
                    <a:pt x="787971" y="0"/>
                  </a:lnTo>
                  <a:cubicBezTo>
                    <a:pt x="818509" y="0"/>
                    <a:pt x="847797" y="12131"/>
                    <a:pt x="869391" y="33725"/>
                  </a:cubicBezTo>
                  <a:cubicBezTo>
                    <a:pt x="890985" y="55320"/>
                    <a:pt x="903117" y="84607"/>
                    <a:pt x="903117" y="115146"/>
                  </a:cubicBezTo>
                  <a:lnTo>
                    <a:pt x="903117" y="697654"/>
                  </a:lnTo>
                  <a:cubicBezTo>
                    <a:pt x="903117" y="761247"/>
                    <a:pt x="851564" y="812800"/>
                    <a:pt x="787971" y="812800"/>
                  </a:cubicBezTo>
                  <a:lnTo>
                    <a:pt x="115146" y="812800"/>
                  </a:lnTo>
                  <a:cubicBezTo>
                    <a:pt x="51553" y="812800"/>
                    <a:pt x="0" y="761247"/>
                    <a:pt x="0" y="697654"/>
                  </a:cubicBezTo>
                  <a:lnTo>
                    <a:pt x="0" y="115146"/>
                  </a:lnTo>
                  <a:cubicBezTo>
                    <a:pt x="0" y="51553"/>
                    <a:pt x="51553" y="0"/>
                    <a:pt x="115146" y="0"/>
                  </a:cubicBezTo>
                  <a:close/>
                </a:path>
              </a:pathLst>
            </a:custGeom>
            <a:solidFill>
              <a:srgbClr val="007D2A"/>
            </a:solidFill>
          </p:spPr>
        </p:sp>
        <p:sp>
          <p:nvSpPr>
            <p:cNvPr name="TextBox 28" id="28"/>
            <p:cNvSpPr txBox="true"/>
            <p:nvPr/>
          </p:nvSpPr>
          <p:spPr>
            <a:xfrm>
              <a:off x="0" y="-47625"/>
              <a:ext cx="903117" cy="860425"/>
            </a:xfrm>
            <a:prstGeom prst="rect">
              <a:avLst/>
            </a:prstGeom>
          </p:spPr>
          <p:txBody>
            <a:bodyPr anchor="ctr" rtlCol="false" tIns="50800" lIns="50800" bIns="50800" rIns="50800"/>
            <a:lstStyle/>
            <a:p>
              <a:pPr algn="ctr">
                <a:lnSpc>
                  <a:spcPts val="2520"/>
                </a:lnSpc>
              </a:pPr>
            </a:p>
          </p:txBody>
        </p:sp>
      </p:grpSp>
      <p:sp>
        <p:nvSpPr>
          <p:cNvPr name="TextBox 29" id="29"/>
          <p:cNvSpPr txBox="true"/>
          <p:nvPr/>
        </p:nvSpPr>
        <p:spPr>
          <a:xfrm rot="0">
            <a:off x="7373147" y="3774567"/>
            <a:ext cx="3429021" cy="316230"/>
          </a:xfrm>
          <a:prstGeom prst="rect">
            <a:avLst/>
          </a:prstGeom>
        </p:spPr>
        <p:txBody>
          <a:bodyPr anchor="t" rtlCol="false" tIns="0" lIns="0" bIns="0" rIns="0">
            <a:spAutoFit/>
          </a:bodyPr>
          <a:lstStyle/>
          <a:p>
            <a:pPr algn="ctr">
              <a:lnSpc>
                <a:spcPts val="2520"/>
              </a:lnSpc>
              <a:spcBef>
                <a:spcPct val="0"/>
              </a:spcBef>
            </a:pPr>
            <a:r>
              <a:rPr lang="en-US" sz="1800" spc="-19">
                <a:solidFill>
                  <a:srgbClr val="FFFFFF"/>
                </a:solidFill>
                <a:latin typeface="Press Start 2P"/>
                <a:ea typeface="Press Start 2P"/>
                <a:cs typeface="Press Start 2P"/>
                <a:sym typeface="Press Start 2P"/>
              </a:rPr>
              <a:t>CUT -D “ “ -F2</a:t>
            </a:r>
          </a:p>
        </p:txBody>
      </p:sp>
      <p:sp>
        <p:nvSpPr>
          <p:cNvPr name="TextBox 30" id="30"/>
          <p:cNvSpPr txBox="true"/>
          <p:nvPr/>
        </p:nvSpPr>
        <p:spPr>
          <a:xfrm rot="0">
            <a:off x="7488645" y="4298160"/>
            <a:ext cx="3198025" cy="2111375"/>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Allows the cutting of content based on a seperator. Extermely helpful tool in making large blocks of text smaller for answers</a:t>
            </a:r>
          </a:p>
        </p:txBody>
      </p:sp>
      <p:grpSp>
        <p:nvGrpSpPr>
          <p:cNvPr name="Group 31" id="31"/>
          <p:cNvGrpSpPr/>
          <p:nvPr/>
        </p:nvGrpSpPr>
        <p:grpSpPr>
          <a:xfrm rot="0">
            <a:off x="11106968" y="3600450"/>
            <a:ext cx="3429021" cy="3578893"/>
            <a:chOff x="0" y="0"/>
            <a:chExt cx="903117" cy="942589"/>
          </a:xfrm>
        </p:grpSpPr>
        <p:sp>
          <p:nvSpPr>
            <p:cNvPr name="Freeform 32" id="32"/>
            <p:cNvSpPr/>
            <p:nvPr/>
          </p:nvSpPr>
          <p:spPr>
            <a:xfrm flipH="false" flipV="false" rot="0">
              <a:off x="0" y="0"/>
              <a:ext cx="903117" cy="942589"/>
            </a:xfrm>
            <a:custGeom>
              <a:avLst/>
              <a:gdLst/>
              <a:ahLst/>
              <a:cxnLst/>
              <a:rect r="r" b="b" t="t" l="l"/>
              <a:pathLst>
                <a:path h="942589" w="903117">
                  <a:moveTo>
                    <a:pt x="115146" y="0"/>
                  </a:moveTo>
                  <a:lnTo>
                    <a:pt x="787971" y="0"/>
                  </a:lnTo>
                  <a:cubicBezTo>
                    <a:pt x="818509" y="0"/>
                    <a:pt x="847797" y="12131"/>
                    <a:pt x="869391" y="33725"/>
                  </a:cubicBezTo>
                  <a:cubicBezTo>
                    <a:pt x="890985" y="55320"/>
                    <a:pt x="903117" y="84607"/>
                    <a:pt x="903117" y="115146"/>
                  </a:cubicBezTo>
                  <a:lnTo>
                    <a:pt x="903117" y="827443"/>
                  </a:lnTo>
                  <a:cubicBezTo>
                    <a:pt x="903117" y="891036"/>
                    <a:pt x="851564" y="942589"/>
                    <a:pt x="787971" y="942589"/>
                  </a:cubicBezTo>
                  <a:lnTo>
                    <a:pt x="115146" y="942589"/>
                  </a:lnTo>
                  <a:cubicBezTo>
                    <a:pt x="84607" y="942589"/>
                    <a:pt x="55320" y="930458"/>
                    <a:pt x="33725" y="908864"/>
                  </a:cubicBezTo>
                  <a:cubicBezTo>
                    <a:pt x="12131" y="887269"/>
                    <a:pt x="0" y="857982"/>
                    <a:pt x="0" y="827443"/>
                  </a:cubicBezTo>
                  <a:lnTo>
                    <a:pt x="0" y="115146"/>
                  </a:lnTo>
                  <a:cubicBezTo>
                    <a:pt x="0" y="51553"/>
                    <a:pt x="51553" y="0"/>
                    <a:pt x="115146" y="0"/>
                  </a:cubicBezTo>
                  <a:close/>
                </a:path>
              </a:pathLst>
            </a:custGeom>
            <a:solidFill>
              <a:srgbClr val="007D2A"/>
            </a:solidFill>
          </p:spPr>
        </p:sp>
        <p:sp>
          <p:nvSpPr>
            <p:cNvPr name="TextBox 33" id="33"/>
            <p:cNvSpPr txBox="true"/>
            <p:nvPr/>
          </p:nvSpPr>
          <p:spPr>
            <a:xfrm>
              <a:off x="0" y="-47625"/>
              <a:ext cx="903117" cy="990214"/>
            </a:xfrm>
            <a:prstGeom prst="rect">
              <a:avLst/>
            </a:prstGeom>
          </p:spPr>
          <p:txBody>
            <a:bodyPr anchor="ctr" rtlCol="false" tIns="50800" lIns="50800" bIns="50800" rIns="50800"/>
            <a:lstStyle/>
            <a:p>
              <a:pPr algn="ctr">
                <a:lnSpc>
                  <a:spcPts val="2520"/>
                </a:lnSpc>
              </a:pPr>
            </a:p>
          </p:txBody>
        </p:sp>
      </p:grpSp>
      <p:sp>
        <p:nvSpPr>
          <p:cNvPr name="TextBox 34" id="34"/>
          <p:cNvSpPr txBox="true"/>
          <p:nvPr/>
        </p:nvSpPr>
        <p:spPr>
          <a:xfrm rot="0">
            <a:off x="11106968" y="3774567"/>
            <a:ext cx="3429021" cy="316230"/>
          </a:xfrm>
          <a:prstGeom prst="rect">
            <a:avLst/>
          </a:prstGeom>
        </p:spPr>
        <p:txBody>
          <a:bodyPr anchor="t" rtlCol="false" tIns="0" lIns="0" bIns="0" rIns="0">
            <a:spAutoFit/>
          </a:bodyPr>
          <a:lstStyle/>
          <a:p>
            <a:pPr algn="ctr">
              <a:lnSpc>
                <a:spcPts val="2520"/>
              </a:lnSpc>
              <a:spcBef>
                <a:spcPct val="0"/>
              </a:spcBef>
            </a:pPr>
            <a:r>
              <a:rPr lang="en-US" sz="1800" spc="-19">
                <a:solidFill>
                  <a:srgbClr val="FFFFFF"/>
                </a:solidFill>
                <a:latin typeface="Press Start 2P"/>
                <a:ea typeface="Press Start 2P"/>
                <a:cs typeface="Press Start 2P"/>
                <a:sym typeface="Press Start 2P"/>
              </a:rPr>
              <a:t>SORT</a:t>
            </a:r>
          </a:p>
        </p:txBody>
      </p:sp>
      <p:sp>
        <p:nvSpPr>
          <p:cNvPr name="TextBox 35" id="35"/>
          <p:cNvSpPr txBox="true"/>
          <p:nvPr/>
        </p:nvSpPr>
        <p:spPr>
          <a:xfrm rot="0">
            <a:off x="11222466" y="4298160"/>
            <a:ext cx="3198025" cy="2463800"/>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Allows sorting of content numerically or alphabetically. </a:t>
            </a:r>
          </a:p>
          <a:p>
            <a:pPr algn="ctr">
              <a:lnSpc>
                <a:spcPts val="2800"/>
              </a:lnSpc>
            </a:pPr>
          </a:p>
          <a:p>
            <a:pPr algn="ctr">
              <a:lnSpc>
                <a:spcPts val="2800"/>
              </a:lnSpc>
            </a:pPr>
            <a:r>
              <a:rPr lang="en-US" sz="2000">
                <a:solidFill>
                  <a:srgbClr val="FFFFFF"/>
                </a:solidFill>
                <a:latin typeface="Canva Sans"/>
                <a:ea typeface="Canva Sans"/>
                <a:cs typeface="Canva Sans"/>
                <a:sym typeface="Canva Sans"/>
              </a:rPr>
              <a:t>Important to do before unique commands to group content</a:t>
            </a:r>
          </a:p>
        </p:txBody>
      </p:sp>
      <p:grpSp>
        <p:nvGrpSpPr>
          <p:cNvPr name="Group 36" id="36"/>
          <p:cNvGrpSpPr/>
          <p:nvPr/>
        </p:nvGrpSpPr>
        <p:grpSpPr>
          <a:xfrm rot="0">
            <a:off x="14726489" y="3600450"/>
            <a:ext cx="3429021" cy="3086100"/>
            <a:chOff x="0" y="0"/>
            <a:chExt cx="903117" cy="812800"/>
          </a:xfrm>
        </p:grpSpPr>
        <p:sp>
          <p:nvSpPr>
            <p:cNvPr name="Freeform 37" id="37"/>
            <p:cNvSpPr/>
            <p:nvPr/>
          </p:nvSpPr>
          <p:spPr>
            <a:xfrm flipH="false" flipV="false" rot="0">
              <a:off x="0" y="0"/>
              <a:ext cx="903117" cy="812800"/>
            </a:xfrm>
            <a:custGeom>
              <a:avLst/>
              <a:gdLst/>
              <a:ahLst/>
              <a:cxnLst/>
              <a:rect r="r" b="b" t="t" l="l"/>
              <a:pathLst>
                <a:path h="812800" w="903117">
                  <a:moveTo>
                    <a:pt x="115146" y="0"/>
                  </a:moveTo>
                  <a:lnTo>
                    <a:pt x="787971" y="0"/>
                  </a:lnTo>
                  <a:cubicBezTo>
                    <a:pt x="818509" y="0"/>
                    <a:pt x="847797" y="12131"/>
                    <a:pt x="869391" y="33725"/>
                  </a:cubicBezTo>
                  <a:cubicBezTo>
                    <a:pt x="890985" y="55320"/>
                    <a:pt x="903117" y="84607"/>
                    <a:pt x="903117" y="115146"/>
                  </a:cubicBezTo>
                  <a:lnTo>
                    <a:pt x="903117" y="697654"/>
                  </a:lnTo>
                  <a:cubicBezTo>
                    <a:pt x="903117" y="761247"/>
                    <a:pt x="851564" y="812800"/>
                    <a:pt x="787971" y="812800"/>
                  </a:cubicBezTo>
                  <a:lnTo>
                    <a:pt x="115146" y="812800"/>
                  </a:lnTo>
                  <a:cubicBezTo>
                    <a:pt x="51553" y="812800"/>
                    <a:pt x="0" y="761247"/>
                    <a:pt x="0" y="697654"/>
                  </a:cubicBezTo>
                  <a:lnTo>
                    <a:pt x="0" y="115146"/>
                  </a:lnTo>
                  <a:cubicBezTo>
                    <a:pt x="0" y="51553"/>
                    <a:pt x="51553" y="0"/>
                    <a:pt x="115146" y="0"/>
                  </a:cubicBezTo>
                  <a:close/>
                </a:path>
              </a:pathLst>
            </a:custGeom>
            <a:solidFill>
              <a:srgbClr val="007D2A"/>
            </a:solidFill>
          </p:spPr>
        </p:sp>
        <p:sp>
          <p:nvSpPr>
            <p:cNvPr name="TextBox 38" id="38"/>
            <p:cNvSpPr txBox="true"/>
            <p:nvPr/>
          </p:nvSpPr>
          <p:spPr>
            <a:xfrm>
              <a:off x="0" y="-47625"/>
              <a:ext cx="903117" cy="860425"/>
            </a:xfrm>
            <a:prstGeom prst="rect">
              <a:avLst/>
            </a:prstGeom>
          </p:spPr>
          <p:txBody>
            <a:bodyPr anchor="ctr" rtlCol="false" tIns="50800" lIns="50800" bIns="50800" rIns="50800"/>
            <a:lstStyle/>
            <a:p>
              <a:pPr algn="ctr">
                <a:lnSpc>
                  <a:spcPts val="2520"/>
                </a:lnSpc>
              </a:pPr>
            </a:p>
          </p:txBody>
        </p:sp>
      </p:grpSp>
      <p:sp>
        <p:nvSpPr>
          <p:cNvPr name="TextBox 39" id="39"/>
          <p:cNvSpPr txBox="true"/>
          <p:nvPr/>
        </p:nvSpPr>
        <p:spPr>
          <a:xfrm rot="0">
            <a:off x="14726489" y="3774567"/>
            <a:ext cx="3429021" cy="316230"/>
          </a:xfrm>
          <a:prstGeom prst="rect">
            <a:avLst/>
          </a:prstGeom>
        </p:spPr>
        <p:txBody>
          <a:bodyPr anchor="t" rtlCol="false" tIns="0" lIns="0" bIns="0" rIns="0">
            <a:spAutoFit/>
          </a:bodyPr>
          <a:lstStyle/>
          <a:p>
            <a:pPr algn="ctr">
              <a:lnSpc>
                <a:spcPts val="2520"/>
              </a:lnSpc>
              <a:spcBef>
                <a:spcPct val="0"/>
              </a:spcBef>
            </a:pPr>
            <a:r>
              <a:rPr lang="en-US" sz="1800" spc="-19">
                <a:solidFill>
                  <a:srgbClr val="FFFFFF"/>
                </a:solidFill>
                <a:latin typeface="Press Start 2P"/>
                <a:ea typeface="Press Start 2P"/>
                <a:cs typeface="Press Start 2P"/>
                <a:sym typeface="Press Start 2P"/>
              </a:rPr>
              <a:t>UNIQ -C</a:t>
            </a:r>
          </a:p>
        </p:txBody>
      </p:sp>
      <p:sp>
        <p:nvSpPr>
          <p:cNvPr name="TextBox 40" id="40"/>
          <p:cNvSpPr txBox="true"/>
          <p:nvPr/>
        </p:nvSpPr>
        <p:spPr>
          <a:xfrm rot="0">
            <a:off x="14841988" y="4298160"/>
            <a:ext cx="3198025" cy="1758950"/>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Counts unique entries present. Shows counts of them. Useful in looking for numbers of how often something appears</a:t>
            </a:r>
          </a:p>
        </p:txBody>
      </p:sp>
      <p:grpSp>
        <p:nvGrpSpPr>
          <p:cNvPr name="Group 41" id="41"/>
          <p:cNvGrpSpPr/>
          <p:nvPr/>
        </p:nvGrpSpPr>
        <p:grpSpPr>
          <a:xfrm rot="0">
            <a:off x="3773125" y="3600450"/>
            <a:ext cx="3429021" cy="3086100"/>
            <a:chOff x="0" y="0"/>
            <a:chExt cx="903117" cy="812800"/>
          </a:xfrm>
        </p:grpSpPr>
        <p:sp>
          <p:nvSpPr>
            <p:cNvPr name="Freeform 42" id="42"/>
            <p:cNvSpPr/>
            <p:nvPr/>
          </p:nvSpPr>
          <p:spPr>
            <a:xfrm flipH="false" flipV="false" rot="0">
              <a:off x="0" y="0"/>
              <a:ext cx="903117" cy="812800"/>
            </a:xfrm>
            <a:custGeom>
              <a:avLst/>
              <a:gdLst/>
              <a:ahLst/>
              <a:cxnLst/>
              <a:rect r="r" b="b" t="t" l="l"/>
              <a:pathLst>
                <a:path h="812800" w="903117">
                  <a:moveTo>
                    <a:pt x="115146" y="0"/>
                  </a:moveTo>
                  <a:lnTo>
                    <a:pt x="787971" y="0"/>
                  </a:lnTo>
                  <a:cubicBezTo>
                    <a:pt x="818509" y="0"/>
                    <a:pt x="847797" y="12131"/>
                    <a:pt x="869391" y="33725"/>
                  </a:cubicBezTo>
                  <a:cubicBezTo>
                    <a:pt x="890985" y="55320"/>
                    <a:pt x="903117" y="84607"/>
                    <a:pt x="903117" y="115146"/>
                  </a:cubicBezTo>
                  <a:lnTo>
                    <a:pt x="903117" y="697654"/>
                  </a:lnTo>
                  <a:cubicBezTo>
                    <a:pt x="903117" y="761247"/>
                    <a:pt x="851564" y="812800"/>
                    <a:pt x="787971" y="812800"/>
                  </a:cubicBezTo>
                  <a:lnTo>
                    <a:pt x="115146" y="812800"/>
                  </a:lnTo>
                  <a:cubicBezTo>
                    <a:pt x="51553" y="812800"/>
                    <a:pt x="0" y="761247"/>
                    <a:pt x="0" y="697654"/>
                  </a:cubicBezTo>
                  <a:lnTo>
                    <a:pt x="0" y="115146"/>
                  </a:lnTo>
                  <a:cubicBezTo>
                    <a:pt x="0" y="51553"/>
                    <a:pt x="51553" y="0"/>
                    <a:pt x="115146" y="0"/>
                  </a:cubicBezTo>
                  <a:close/>
                </a:path>
              </a:pathLst>
            </a:custGeom>
            <a:solidFill>
              <a:srgbClr val="007D2A"/>
            </a:solidFill>
          </p:spPr>
        </p:sp>
        <p:sp>
          <p:nvSpPr>
            <p:cNvPr name="TextBox 43" id="43"/>
            <p:cNvSpPr txBox="true"/>
            <p:nvPr/>
          </p:nvSpPr>
          <p:spPr>
            <a:xfrm>
              <a:off x="0" y="-47625"/>
              <a:ext cx="903117" cy="860425"/>
            </a:xfrm>
            <a:prstGeom prst="rect">
              <a:avLst/>
            </a:prstGeom>
          </p:spPr>
          <p:txBody>
            <a:bodyPr anchor="ctr" rtlCol="false" tIns="50800" lIns="50800" bIns="50800" rIns="50800"/>
            <a:lstStyle/>
            <a:p>
              <a:pPr algn="ctr">
                <a:lnSpc>
                  <a:spcPts val="2520"/>
                </a:lnSpc>
              </a:pPr>
            </a:p>
          </p:txBody>
        </p:sp>
      </p:grpSp>
      <p:sp>
        <p:nvSpPr>
          <p:cNvPr name="TextBox 44" id="44"/>
          <p:cNvSpPr txBox="true"/>
          <p:nvPr/>
        </p:nvSpPr>
        <p:spPr>
          <a:xfrm rot="0">
            <a:off x="3773125" y="3774567"/>
            <a:ext cx="3429021" cy="316230"/>
          </a:xfrm>
          <a:prstGeom prst="rect">
            <a:avLst/>
          </a:prstGeom>
        </p:spPr>
        <p:txBody>
          <a:bodyPr anchor="t" rtlCol="false" tIns="0" lIns="0" bIns="0" rIns="0">
            <a:spAutoFit/>
          </a:bodyPr>
          <a:lstStyle/>
          <a:p>
            <a:pPr algn="ctr">
              <a:lnSpc>
                <a:spcPts val="2520"/>
              </a:lnSpc>
              <a:spcBef>
                <a:spcPct val="0"/>
              </a:spcBef>
            </a:pPr>
            <a:r>
              <a:rPr lang="en-US" sz="1800" spc="-19">
                <a:solidFill>
                  <a:srgbClr val="FFFFFF"/>
                </a:solidFill>
                <a:latin typeface="Press Start 2P"/>
                <a:ea typeface="Press Start 2P"/>
                <a:cs typeface="Press Start 2P"/>
                <a:sym typeface="Press Start 2P"/>
              </a:rPr>
              <a:t>GREP</a:t>
            </a:r>
          </a:p>
        </p:txBody>
      </p:sp>
      <p:sp>
        <p:nvSpPr>
          <p:cNvPr name="TextBox 45" id="45"/>
          <p:cNvSpPr txBox="true"/>
          <p:nvPr/>
        </p:nvSpPr>
        <p:spPr>
          <a:xfrm rot="0">
            <a:off x="3888623" y="4298160"/>
            <a:ext cx="3198025" cy="1054100"/>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Searches for text in a specified file or when in a chained command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919360" y="3840016"/>
            <a:ext cx="3959812" cy="964754"/>
          </a:xfrm>
          <a:custGeom>
            <a:avLst/>
            <a:gdLst/>
            <a:ahLst/>
            <a:cxnLst/>
            <a:rect r="r" b="b" t="t" l="l"/>
            <a:pathLst>
              <a:path h="964754" w="3959812">
                <a:moveTo>
                  <a:pt x="0" y="0"/>
                </a:moveTo>
                <a:lnTo>
                  <a:pt x="3959812" y="0"/>
                </a:lnTo>
                <a:lnTo>
                  <a:pt x="3959812" y="964755"/>
                </a:lnTo>
                <a:lnTo>
                  <a:pt x="0" y="9647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5108879" y="3252195"/>
            <a:ext cx="8078690" cy="1552575"/>
          </a:xfrm>
          <a:prstGeom prst="rect">
            <a:avLst/>
          </a:prstGeom>
        </p:spPr>
        <p:txBody>
          <a:bodyPr anchor="t" rtlCol="false" tIns="0" lIns="0" bIns="0" rIns="0">
            <a:spAutoFit/>
          </a:bodyPr>
          <a:lstStyle/>
          <a:p>
            <a:pPr algn="ctr">
              <a:lnSpc>
                <a:spcPts val="6299"/>
              </a:lnSpc>
            </a:pPr>
            <a:r>
              <a:rPr lang="en-US" sz="4499" spc="-49">
                <a:solidFill>
                  <a:srgbClr val="FFFFFF"/>
                </a:solidFill>
                <a:latin typeface="Press Start 2P"/>
                <a:ea typeface="Press Start 2P"/>
                <a:cs typeface="Press Start 2P"/>
                <a:sym typeface="Press Start 2P"/>
              </a:rPr>
              <a:t>LAB TIME:</a:t>
            </a:r>
          </a:p>
          <a:p>
            <a:pPr algn="ctr" marL="0" indent="0" lvl="0">
              <a:lnSpc>
                <a:spcPts val="6299"/>
              </a:lnSpc>
            </a:pPr>
            <a:r>
              <a:rPr lang="en-US" sz="4499" spc="-49">
                <a:solidFill>
                  <a:srgbClr val="FFFFFF"/>
                </a:solidFill>
                <a:latin typeface="Press Start 2P"/>
                <a:ea typeface="Press Start 2P"/>
                <a:cs typeface="Press Start 2P"/>
                <a:sym typeface="Press Start 2P"/>
              </a:rPr>
              <a:t>MONGOBLEED</a:t>
            </a:r>
          </a:p>
        </p:txBody>
      </p:sp>
      <p:grpSp>
        <p:nvGrpSpPr>
          <p:cNvPr name="Group 17" id="17"/>
          <p:cNvGrpSpPr/>
          <p:nvPr/>
        </p:nvGrpSpPr>
        <p:grpSpPr>
          <a:xfrm rot="0">
            <a:off x="1107806" y="6868343"/>
            <a:ext cx="16072387" cy="1773389"/>
            <a:chOff x="0" y="0"/>
            <a:chExt cx="21429850" cy="2364519"/>
          </a:xfrm>
        </p:grpSpPr>
        <p:sp>
          <p:nvSpPr>
            <p:cNvPr name="Freeform 18" id="18"/>
            <p:cNvSpPr/>
            <p:nvPr/>
          </p:nvSpPr>
          <p:spPr>
            <a:xfrm flipH="false" flipV="false" rot="0">
              <a:off x="0"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3023081"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5680942"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8704024"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11358145"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3" id="23"/>
            <p:cNvSpPr/>
            <p:nvPr/>
          </p:nvSpPr>
          <p:spPr>
            <a:xfrm flipH="false" flipV="false" rot="0">
              <a:off x="14381226"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17035347" y="0"/>
              <a:ext cx="1371421" cy="2364519"/>
            </a:xfrm>
            <a:custGeom>
              <a:avLst/>
              <a:gdLst/>
              <a:ahLst/>
              <a:cxnLst/>
              <a:rect r="r" b="b" t="t" l="l"/>
              <a:pathLst>
                <a:path h="2364519" w="1371421">
                  <a:moveTo>
                    <a:pt x="0" y="0"/>
                  </a:moveTo>
                  <a:lnTo>
                    <a:pt x="1371421" y="0"/>
                  </a:lnTo>
                  <a:lnTo>
                    <a:pt x="1371421"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20058428" y="0"/>
              <a:ext cx="1371421" cy="2364519"/>
            </a:xfrm>
            <a:custGeom>
              <a:avLst/>
              <a:gdLst/>
              <a:ahLst/>
              <a:cxnLst/>
              <a:rect r="r" b="b" t="t" l="l"/>
              <a:pathLst>
                <a:path h="2364519" w="1371421">
                  <a:moveTo>
                    <a:pt x="0" y="0"/>
                  </a:moveTo>
                  <a:lnTo>
                    <a:pt x="1371422" y="0"/>
                  </a:lnTo>
                  <a:lnTo>
                    <a:pt x="1371422" y="2364519"/>
                  </a:lnTo>
                  <a:lnTo>
                    <a:pt x="0" y="23645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25606" y="7194287"/>
            <a:ext cx="1318419" cy="2571384"/>
          </a:xfrm>
          <a:custGeom>
            <a:avLst/>
            <a:gdLst/>
            <a:ahLst/>
            <a:cxnLst/>
            <a:rect r="r" b="b" t="t" l="l"/>
            <a:pathLst>
              <a:path h="2571384" w="1318419">
                <a:moveTo>
                  <a:pt x="0" y="0"/>
                </a:moveTo>
                <a:lnTo>
                  <a:pt x="1318419" y="0"/>
                </a:lnTo>
                <a:lnTo>
                  <a:pt x="1318419" y="2571384"/>
                </a:lnTo>
                <a:lnTo>
                  <a:pt x="0" y="25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93064" y="7902866"/>
            <a:ext cx="885655" cy="1727340"/>
          </a:xfrm>
          <a:custGeom>
            <a:avLst/>
            <a:gdLst/>
            <a:ahLst/>
            <a:cxnLst/>
            <a:rect r="r" b="b" t="t" l="l"/>
            <a:pathLst>
              <a:path h="1727340" w="885655">
                <a:moveTo>
                  <a:pt x="0" y="0"/>
                </a:moveTo>
                <a:lnTo>
                  <a:pt x="885655" y="0"/>
                </a:lnTo>
                <a:lnTo>
                  <a:pt x="885655"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97489" y="7194287"/>
            <a:ext cx="1318419" cy="2571384"/>
          </a:xfrm>
          <a:custGeom>
            <a:avLst/>
            <a:gdLst/>
            <a:ahLst/>
            <a:cxnLst/>
            <a:rect r="r" b="b" t="t" l="l"/>
            <a:pathLst>
              <a:path h="2571384" w="1318419">
                <a:moveTo>
                  <a:pt x="0" y="0"/>
                </a:moveTo>
                <a:lnTo>
                  <a:pt x="1318419" y="0"/>
                </a:lnTo>
                <a:lnTo>
                  <a:pt x="1318419" y="2571384"/>
                </a:lnTo>
                <a:lnTo>
                  <a:pt x="0" y="25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464947" y="7902866"/>
            <a:ext cx="885655" cy="1727340"/>
          </a:xfrm>
          <a:custGeom>
            <a:avLst/>
            <a:gdLst/>
            <a:ahLst/>
            <a:cxnLst/>
            <a:rect r="r" b="b" t="t" l="l"/>
            <a:pathLst>
              <a:path h="1727340" w="885655">
                <a:moveTo>
                  <a:pt x="0" y="0"/>
                </a:moveTo>
                <a:lnTo>
                  <a:pt x="885655" y="0"/>
                </a:lnTo>
                <a:lnTo>
                  <a:pt x="885655"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272877" y="7194287"/>
            <a:ext cx="1318419" cy="2571384"/>
          </a:xfrm>
          <a:custGeom>
            <a:avLst/>
            <a:gdLst/>
            <a:ahLst/>
            <a:cxnLst/>
            <a:rect r="r" b="b" t="t" l="l"/>
            <a:pathLst>
              <a:path h="2571384" w="1318419">
                <a:moveTo>
                  <a:pt x="0" y="0"/>
                </a:moveTo>
                <a:lnTo>
                  <a:pt x="1318418" y="0"/>
                </a:lnTo>
                <a:lnTo>
                  <a:pt x="1318418" y="2571384"/>
                </a:lnTo>
                <a:lnTo>
                  <a:pt x="0" y="25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140335" y="7902866"/>
            <a:ext cx="885655" cy="1727340"/>
          </a:xfrm>
          <a:custGeom>
            <a:avLst/>
            <a:gdLst/>
            <a:ahLst/>
            <a:cxnLst/>
            <a:rect r="r" b="b" t="t" l="l"/>
            <a:pathLst>
              <a:path h="1727340" w="885655">
                <a:moveTo>
                  <a:pt x="0" y="0"/>
                </a:moveTo>
                <a:lnTo>
                  <a:pt x="885654" y="0"/>
                </a:lnTo>
                <a:lnTo>
                  <a:pt x="885654"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5948264" y="6985424"/>
            <a:ext cx="1318419" cy="2571384"/>
          </a:xfrm>
          <a:custGeom>
            <a:avLst/>
            <a:gdLst/>
            <a:ahLst/>
            <a:cxnLst/>
            <a:rect r="r" b="b" t="t" l="l"/>
            <a:pathLst>
              <a:path h="2571384" w="1318419">
                <a:moveTo>
                  <a:pt x="0" y="0"/>
                </a:moveTo>
                <a:lnTo>
                  <a:pt x="1318419" y="0"/>
                </a:lnTo>
                <a:lnTo>
                  <a:pt x="1318419" y="2571383"/>
                </a:lnTo>
                <a:lnTo>
                  <a:pt x="0" y="2571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7815722" y="7694003"/>
            <a:ext cx="885655" cy="1727340"/>
          </a:xfrm>
          <a:custGeom>
            <a:avLst/>
            <a:gdLst/>
            <a:ahLst/>
            <a:cxnLst/>
            <a:rect r="r" b="b" t="t" l="l"/>
            <a:pathLst>
              <a:path h="1727340" w="885655">
                <a:moveTo>
                  <a:pt x="0" y="0"/>
                </a:moveTo>
                <a:lnTo>
                  <a:pt x="885655" y="0"/>
                </a:lnTo>
                <a:lnTo>
                  <a:pt x="885655"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595077" y="6985424"/>
            <a:ext cx="1318419" cy="2571384"/>
          </a:xfrm>
          <a:custGeom>
            <a:avLst/>
            <a:gdLst/>
            <a:ahLst/>
            <a:cxnLst/>
            <a:rect r="r" b="b" t="t" l="l"/>
            <a:pathLst>
              <a:path h="2571384" w="1318419">
                <a:moveTo>
                  <a:pt x="0" y="0"/>
                </a:moveTo>
                <a:lnTo>
                  <a:pt x="1318419" y="0"/>
                </a:lnTo>
                <a:lnTo>
                  <a:pt x="1318419" y="2571383"/>
                </a:lnTo>
                <a:lnTo>
                  <a:pt x="0" y="2571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462535" y="7829467"/>
            <a:ext cx="885655" cy="1727340"/>
          </a:xfrm>
          <a:custGeom>
            <a:avLst/>
            <a:gdLst/>
            <a:ahLst/>
            <a:cxnLst/>
            <a:rect r="r" b="b" t="t" l="l"/>
            <a:pathLst>
              <a:path h="1727340" w="885655">
                <a:moveTo>
                  <a:pt x="0" y="0"/>
                </a:moveTo>
                <a:lnTo>
                  <a:pt x="885654" y="0"/>
                </a:lnTo>
                <a:lnTo>
                  <a:pt x="885654"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758110" y="7058822"/>
            <a:ext cx="1318419" cy="2571384"/>
          </a:xfrm>
          <a:custGeom>
            <a:avLst/>
            <a:gdLst/>
            <a:ahLst/>
            <a:cxnLst/>
            <a:rect r="r" b="b" t="t" l="l"/>
            <a:pathLst>
              <a:path h="2571384" w="1318419">
                <a:moveTo>
                  <a:pt x="0" y="0"/>
                </a:moveTo>
                <a:lnTo>
                  <a:pt x="1318418" y="0"/>
                </a:lnTo>
                <a:lnTo>
                  <a:pt x="1318418" y="2571384"/>
                </a:lnTo>
                <a:lnTo>
                  <a:pt x="0" y="25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109347" y="7767401"/>
            <a:ext cx="885655" cy="1727340"/>
          </a:xfrm>
          <a:custGeom>
            <a:avLst/>
            <a:gdLst/>
            <a:ahLst/>
            <a:cxnLst/>
            <a:rect r="r" b="b" t="t" l="l"/>
            <a:pathLst>
              <a:path h="1727340" w="885655">
                <a:moveTo>
                  <a:pt x="0" y="0"/>
                </a:moveTo>
                <a:lnTo>
                  <a:pt x="885655" y="0"/>
                </a:lnTo>
                <a:lnTo>
                  <a:pt x="885655" y="1727341"/>
                </a:lnTo>
                <a:lnTo>
                  <a:pt x="0" y="17273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586506"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805705"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4453259"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7141036" y="9244341"/>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0195145"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12764329" y="9244341"/>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5572309"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9924826" y="8170910"/>
            <a:ext cx="5878027" cy="2116090"/>
          </a:xfrm>
          <a:custGeom>
            <a:avLst/>
            <a:gdLst/>
            <a:ahLst/>
            <a:cxnLst/>
            <a:rect r="r" b="b" t="t" l="l"/>
            <a:pathLst>
              <a:path h="2116090" w="5878027">
                <a:moveTo>
                  <a:pt x="0" y="0"/>
                </a:moveTo>
                <a:lnTo>
                  <a:pt x="5878028" y="0"/>
                </a:lnTo>
                <a:lnTo>
                  <a:pt x="5878028" y="2116090"/>
                </a:lnTo>
                <a:lnTo>
                  <a:pt x="0" y="21160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false" rot="0">
            <a:off x="14513606" y="6113510"/>
            <a:ext cx="2745694" cy="4114800"/>
          </a:xfrm>
          <a:custGeom>
            <a:avLst/>
            <a:gdLst/>
            <a:ahLst/>
            <a:cxnLst/>
            <a:rect r="r" b="b" t="t" l="l"/>
            <a:pathLst>
              <a:path h="4114800" w="2745694">
                <a:moveTo>
                  <a:pt x="2745694" y="0"/>
                </a:moveTo>
                <a:lnTo>
                  <a:pt x="0" y="0"/>
                </a:lnTo>
                <a:lnTo>
                  <a:pt x="0" y="4114800"/>
                </a:lnTo>
                <a:lnTo>
                  <a:pt x="2745694" y="4114800"/>
                </a:lnTo>
                <a:lnTo>
                  <a:pt x="2745694"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7996892" y="412807"/>
            <a:ext cx="2395833" cy="1084659"/>
          </a:xfrm>
          <a:custGeom>
            <a:avLst/>
            <a:gdLst/>
            <a:ahLst/>
            <a:cxnLst/>
            <a:rect r="r" b="b" t="t" l="l"/>
            <a:pathLst>
              <a:path h="1084659" w="2395833">
                <a:moveTo>
                  <a:pt x="0" y="0"/>
                </a:moveTo>
                <a:lnTo>
                  <a:pt x="2395833" y="0"/>
                </a:lnTo>
                <a:lnTo>
                  <a:pt x="2395833" y="1084659"/>
                </a:lnTo>
                <a:lnTo>
                  <a:pt x="0" y="10846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6" id="26"/>
          <p:cNvSpPr txBox="true"/>
          <p:nvPr/>
        </p:nvSpPr>
        <p:spPr>
          <a:xfrm rot="0">
            <a:off x="823929" y="711796"/>
            <a:ext cx="8448947" cy="1384300"/>
          </a:xfrm>
          <a:prstGeom prst="rect">
            <a:avLst/>
          </a:prstGeom>
        </p:spPr>
        <p:txBody>
          <a:bodyPr anchor="t" rtlCol="false" tIns="0" lIns="0" bIns="0" rIns="0">
            <a:spAutoFit/>
          </a:bodyPr>
          <a:lstStyle/>
          <a:p>
            <a:pPr algn="l" marL="0" indent="0" lvl="0">
              <a:lnSpc>
                <a:spcPts val="5599"/>
              </a:lnSpc>
            </a:pPr>
            <a:r>
              <a:rPr lang="en-US" sz="3999" spc="-43">
                <a:solidFill>
                  <a:srgbClr val="FFFFFF"/>
                </a:solidFill>
                <a:latin typeface="Press Start 2P"/>
                <a:ea typeface="Press Start 2P"/>
                <a:cs typeface="Press Start 2P"/>
                <a:sym typeface="Press Start 2P"/>
              </a:rPr>
              <a:t>WELL, ITS OVER. WHAT NOW?</a:t>
            </a:r>
          </a:p>
        </p:txBody>
      </p:sp>
      <p:sp>
        <p:nvSpPr>
          <p:cNvPr name="Freeform 27" id="27"/>
          <p:cNvSpPr/>
          <p:nvPr/>
        </p:nvSpPr>
        <p:spPr>
          <a:xfrm flipH="false" flipV="false" rot="0">
            <a:off x="823929" y="2444179"/>
            <a:ext cx="973268" cy="940248"/>
          </a:xfrm>
          <a:custGeom>
            <a:avLst/>
            <a:gdLst/>
            <a:ahLst/>
            <a:cxnLst/>
            <a:rect r="r" b="b" t="t" l="l"/>
            <a:pathLst>
              <a:path h="940248" w="973268">
                <a:moveTo>
                  <a:pt x="0" y="0"/>
                </a:moveTo>
                <a:lnTo>
                  <a:pt x="973268" y="0"/>
                </a:lnTo>
                <a:lnTo>
                  <a:pt x="973268" y="940248"/>
                </a:lnTo>
                <a:lnTo>
                  <a:pt x="0" y="940248"/>
                </a:lnTo>
                <a:lnTo>
                  <a:pt x="0" y="0"/>
                </a:lnTo>
                <a:close/>
              </a:path>
            </a:pathLst>
          </a:custGeom>
          <a:blipFill>
            <a:blip r:embed="rId14">
              <a:extLst>
                <a:ext uri="{96DAC541-7B7A-43D3-8B79-37D633B846F1}">
                  <asvg:svgBlip xmlns:asvg="http://schemas.microsoft.com/office/drawing/2016/SVG/main" r:embed="rId15"/>
                </a:ext>
              </a:extLst>
            </a:blip>
            <a:stretch>
              <a:fillRect l="0" t="-1755" r="0" b="-1755"/>
            </a:stretch>
          </a:blipFill>
        </p:spPr>
      </p:sp>
      <p:sp>
        <p:nvSpPr>
          <p:cNvPr name="Freeform 28" id="28"/>
          <p:cNvSpPr/>
          <p:nvPr/>
        </p:nvSpPr>
        <p:spPr>
          <a:xfrm flipH="false" flipV="false" rot="0">
            <a:off x="823929" y="3739149"/>
            <a:ext cx="973268" cy="940248"/>
          </a:xfrm>
          <a:custGeom>
            <a:avLst/>
            <a:gdLst/>
            <a:ahLst/>
            <a:cxnLst/>
            <a:rect r="r" b="b" t="t" l="l"/>
            <a:pathLst>
              <a:path h="940248" w="973268">
                <a:moveTo>
                  <a:pt x="0" y="0"/>
                </a:moveTo>
                <a:lnTo>
                  <a:pt x="973268" y="0"/>
                </a:lnTo>
                <a:lnTo>
                  <a:pt x="973268" y="940248"/>
                </a:lnTo>
                <a:lnTo>
                  <a:pt x="0" y="940248"/>
                </a:lnTo>
                <a:lnTo>
                  <a:pt x="0" y="0"/>
                </a:lnTo>
                <a:close/>
              </a:path>
            </a:pathLst>
          </a:custGeom>
          <a:blipFill>
            <a:blip r:embed="rId14">
              <a:extLst>
                <a:ext uri="{96DAC541-7B7A-43D3-8B79-37D633B846F1}">
                  <asvg:svgBlip xmlns:asvg="http://schemas.microsoft.com/office/drawing/2016/SVG/main" r:embed="rId15"/>
                </a:ext>
              </a:extLst>
            </a:blip>
            <a:stretch>
              <a:fillRect l="0" t="-1755" r="0" b="-1755"/>
            </a:stretch>
          </a:blipFill>
        </p:spPr>
      </p:sp>
      <p:sp>
        <p:nvSpPr>
          <p:cNvPr name="TextBox 29" id="29"/>
          <p:cNvSpPr txBox="true"/>
          <p:nvPr/>
        </p:nvSpPr>
        <p:spPr>
          <a:xfrm rot="0">
            <a:off x="2003817" y="2430304"/>
            <a:ext cx="9191113" cy="1259205"/>
          </a:xfrm>
          <a:prstGeom prst="rect">
            <a:avLst/>
          </a:prstGeom>
        </p:spPr>
        <p:txBody>
          <a:bodyPr anchor="t" rtlCol="false" tIns="0" lIns="0" bIns="0" rIns="0">
            <a:spAutoFit/>
          </a:bodyPr>
          <a:lstStyle/>
          <a:p>
            <a:pPr algn="just">
              <a:lnSpc>
                <a:spcPts val="2520"/>
              </a:lnSpc>
            </a:pPr>
            <a:r>
              <a:rPr lang="en-US" sz="1800" b="true">
                <a:solidFill>
                  <a:srgbClr val="FFFFFF"/>
                </a:solidFill>
                <a:latin typeface="Roboto Bold"/>
                <a:ea typeface="Roboto Bold"/>
                <a:cs typeface="Roboto Bold"/>
                <a:sym typeface="Roboto Bold"/>
              </a:rPr>
              <a:t>Continue Working</a:t>
            </a:r>
          </a:p>
          <a:p>
            <a:pPr algn="just">
              <a:lnSpc>
                <a:spcPts val="2520"/>
              </a:lnSpc>
              <a:spcBef>
                <a:spcPct val="0"/>
              </a:spcBef>
            </a:pPr>
            <a:r>
              <a:rPr lang="en-US" sz="1800">
                <a:solidFill>
                  <a:srgbClr val="FFFFFF"/>
                </a:solidFill>
                <a:latin typeface="Roboto"/>
                <a:ea typeface="Roboto"/>
                <a:cs typeface="Roboto"/>
                <a:sym typeface="Roboto"/>
              </a:rPr>
              <a:t>If you enjoyed the items for capture the flags, keep up to date with ctftime.org or tryhackme and hackthebox for their CTFs they host. Work with their platforms to continue to learn more</a:t>
            </a:r>
          </a:p>
        </p:txBody>
      </p:sp>
      <p:sp>
        <p:nvSpPr>
          <p:cNvPr name="TextBox 30" id="30"/>
          <p:cNvSpPr txBox="true"/>
          <p:nvPr/>
        </p:nvSpPr>
        <p:spPr>
          <a:xfrm rot="0">
            <a:off x="1995002" y="3877384"/>
            <a:ext cx="9191113" cy="944880"/>
          </a:xfrm>
          <a:prstGeom prst="rect">
            <a:avLst/>
          </a:prstGeom>
        </p:spPr>
        <p:txBody>
          <a:bodyPr anchor="t" rtlCol="false" tIns="0" lIns="0" bIns="0" rIns="0">
            <a:spAutoFit/>
          </a:bodyPr>
          <a:lstStyle/>
          <a:p>
            <a:pPr algn="just">
              <a:lnSpc>
                <a:spcPts val="2520"/>
              </a:lnSpc>
            </a:pPr>
            <a:r>
              <a:rPr lang="en-US" sz="1800" b="true">
                <a:solidFill>
                  <a:srgbClr val="FFFFFF"/>
                </a:solidFill>
                <a:latin typeface="Roboto Bold"/>
                <a:ea typeface="Roboto Bold"/>
                <a:cs typeface="Roboto Bold"/>
                <a:sym typeface="Roboto Bold"/>
              </a:rPr>
              <a:t>Personal Projects</a:t>
            </a:r>
          </a:p>
          <a:p>
            <a:pPr algn="just">
              <a:lnSpc>
                <a:spcPts val="2520"/>
              </a:lnSpc>
              <a:spcBef>
                <a:spcPct val="0"/>
              </a:spcBef>
            </a:pPr>
            <a:r>
              <a:rPr lang="en-US" sz="1800">
                <a:solidFill>
                  <a:srgbClr val="FFFFFF"/>
                </a:solidFill>
                <a:latin typeface="Roboto"/>
                <a:ea typeface="Roboto"/>
                <a:cs typeface="Roboto"/>
                <a:sym typeface="Roboto"/>
              </a:rPr>
              <a:t>The next slide is ideas for personal projects based on the content we have gone over in this project. I’m glad to help anyone with these as you need!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9414837"/>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74112"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39776"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3888" y="9423285"/>
            <a:ext cx="4574112" cy="873240"/>
          </a:xfrm>
          <a:custGeom>
            <a:avLst/>
            <a:gdLst/>
            <a:ahLst/>
            <a:cxnLst/>
            <a:rect r="r" b="b" t="t" l="l"/>
            <a:pathLst>
              <a:path h="873240" w="4574112">
                <a:moveTo>
                  <a:pt x="0" y="0"/>
                </a:moveTo>
                <a:lnTo>
                  <a:pt x="4574112" y="0"/>
                </a:lnTo>
                <a:lnTo>
                  <a:pt x="4574112" y="873240"/>
                </a:lnTo>
                <a:lnTo>
                  <a:pt x="0" y="873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99775" y="4933183"/>
            <a:ext cx="4158275" cy="3750008"/>
          </a:xfrm>
          <a:custGeom>
            <a:avLst/>
            <a:gdLst/>
            <a:ahLst/>
            <a:cxnLst/>
            <a:rect r="r" b="b" t="t" l="l"/>
            <a:pathLst>
              <a:path h="3750008" w="4158275">
                <a:moveTo>
                  <a:pt x="0" y="0"/>
                </a:moveTo>
                <a:lnTo>
                  <a:pt x="4158274" y="0"/>
                </a:lnTo>
                <a:lnTo>
                  <a:pt x="4158274" y="3750008"/>
                </a:lnTo>
                <a:lnTo>
                  <a:pt x="0" y="37500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6176943" y="7451924"/>
            <a:ext cx="579662" cy="1265135"/>
          </a:xfrm>
          <a:custGeom>
            <a:avLst/>
            <a:gdLst/>
            <a:ahLst/>
            <a:cxnLst/>
            <a:rect r="r" b="b" t="t" l="l"/>
            <a:pathLst>
              <a:path h="1265135" w="579662">
                <a:moveTo>
                  <a:pt x="0" y="0"/>
                </a:moveTo>
                <a:lnTo>
                  <a:pt x="579662" y="0"/>
                </a:lnTo>
                <a:lnTo>
                  <a:pt x="579662" y="1265136"/>
                </a:lnTo>
                <a:lnTo>
                  <a:pt x="0" y="12651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86506"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80570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445325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7141036"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0195145"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2764329" y="8372178"/>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5572309" y="8380836"/>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3773125" y="7883807"/>
            <a:ext cx="3226307" cy="1531029"/>
          </a:xfrm>
          <a:custGeom>
            <a:avLst/>
            <a:gdLst/>
            <a:ahLst/>
            <a:cxnLst/>
            <a:rect r="r" b="b" t="t" l="l"/>
            <a:pathLst>
              <a:path h="1531029" w="3226307">
                <a:moveTo>
                  <a:pt x="0" y="0"/>
                </a:moveTo>
                <a:lnTo>
                  <a:pt x="3226307" y="0"/>
                </a:lnTo>
                <a:lnTo>
                  <a:pt x="3226307" y="1531030"/>
                </a:lnTo>
                <a:lnTo>
                  <a:pt x="0" y="15310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4869598" y="8084492"/>
            <a:ext cx="1033361" cy="668867"/>
          </a:xfrm>
          <a:custGeom>
            <a:avLst/>
            <a:gdLst/>
            <a:ahLst/>
            <a:cxnLst/>
            <a:rect r="r" b="b" t="t" l="l"/>
            <a:pathLst>
              <a:path h="668867" w="1033361">
                <a:moveTo>
                  <a:pt x="0" y="0"/>
                </a:moveTo>
                <a:lnTo>
                  <a:pt x="1033361" y="0"/>
                </a:lnTo>
                <a:lnTo>
                  <a:pt x="1033361" y="668867"/>
                </a:lnTo>
                <a:lnTo>
                  <a:pt x="0" y="66886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7489418" y="8252389"/>
            <a:ext cx="646744" cy="1162448"/>
          </a:xfrm>
          <a:custGeom>
            <a:avLst/>
            <a:gdLst/>
            <a:ahLst/>
            <a:cxnLst/>
            <a:rect r="r" b="b" t="t" l="l"/>
            <a:pathLst>
              <a:path h="1162448" w="646744">
                <a:moveTo>
                  <a:pt x="0" y="0"/>
                </a:moveTo>
                <a:lnTo>
                  <a:pt x="646744" y="0"/>
                </a:lnTo>
                <a:lnTo>
                  <a:pt x="646744" y="1162448"/>
                </a:lnTo>
                <a:lnTo>
                  <a:pt x="0" y="116244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true" flipV="false" rot="0">
            <a:off x="17122761" y="7418055"/>
            <a:ext cx="579662" cy="1265135"/>
          </a:xfrm>
          <a:custGeom>
            <a:avLst/>
            <a:gdLst/>
            <a:ahLst/>
            <a:cxnLst/>
            <a:rect r="r" b="b" t="t" l="l"/>
            <a:pathLst>
              <a:path h="1265135" w="579662">
                <a:moveTo>
                  <a:pt x="579662" y="0"/>
                </a:moveTo>
                <a:lnTo>
                  <a:pt x="0" y="0"/>
                </a:lnTo>
                <a:lnTo>
                  <a:pt x="0" y="1265136"/>
                </a:lnTo>
                <a:lnTo>
                  <a:pt x="579662" y="1265136"/>
                </a:lnTo>
                <a:lnTo>
                  <a:pt x="57966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1" id="21"/>
          <p:cNvGrpSpPr/>
          <p:nvPr/>
        </p:nvGrpSpPr>
        <p:grpSpPr>
          <a:xfrm rot="0">
            <a:off x="4009250" y="355172"/>
            <a:ext cx="11023234" cy="7519111"/>
            <a:chOff x="0" y="0"/>
            <a:chExt cx="2903239" cy="1980342"/>
          </a:xfrm>
        </p:grpSpPr>
        <p:sp>
          <p:nvSpPr>
            <p:cNvPr name="Freeform 22" id="22"/>
            <p:cNvSpPr/>
            <p:nvPr/>
          </p:nvSpPr>
          <p:spPr>
            <a:xfrm flipH="false" flipV="false" rot="0">
              <a:off x="0" y="0"/>
              <a:ext cx="2903239" cy="1980342"/>
            </a:xfrm>
            <a:custGeom>
              <a:avLst/>
              <a:gdLst/>
              <a:ahLst/>
              <a:cxnLst/>
              <a:rect r="r" b="b" t="t" l="l"/>
              <a:pathLst>
                <a:path h="1980342" w="2903239">
                  <a:moveTo>
                    <a:pt x="35819" y="0"/>
                  </a:moveTo>
                  <a:lnTo>
                    <a:pt x="2867420" y="0"/>
                  </a:lnTo>
                  <a:cubicBezTo>
                    <a:pt x="2876920" y="0"/>
                    <a:pt x="2886030" y="3774"/>
                    <a:pt x="2892748" y="10491"/>
                  </a:cubicBezTo>
                  <a:cubicBezTo>
                    <a:pt x="2899465" y="17208"/>
                    <a:pt x="2903239" y="26319"/>
                    <a:pt x="2903239" y="35819"/>
                  </a:cubicBezTo>
                  <a:lnTo>
                    <a:pt x="2903239" y="1944523"/>
                  </a:lnTo>
                  <a:cubicBezTo>
                    <a:pt x="2903239" y="1964305"/>
                    <a:pt x="2887202" y="1980342"/>
                    <a:pt x="2867420" y="1980342"/>
                  </a:cubicBezTo>
                  <a:lnTo>
                    <a:pt x="35819" y="1980342"/>
                  </a:lnTo>
                  <a:cubicBezTo>
                    <a:pt x="26319" y="1980342"/>
                    <a:pt x="17208" y="1976568"/>
                    <a:pt x="10491" y="1969851"/>
                  </a:cubicBezTo>
                  <a:cubicBezTo>
                    <a:pt x="3774" y="1963133"/>
                    <a:pt x="0" y="1954023"/>
                    <a:pt x="0" y="1944523"/>
                  </a:cubicBezTo>
                  <a:lnTo>
                    <a:pt x="0" y="35819"/>
                  </a:lnTo>
                  <a:cubicBezTo>
                    <a:pt x="0" y="26319"/>
                    <a:pt x="3774" y="17208"/>
                    <a:pt x="10491" y="10491"/>
                  </a:cubicBezTo>
                  <a:cubicBezTo>
                    <a:pt x="17208" y="3774"/>
                    <a:pt x="26319" y="0"/>
                    <a:pt x="35819" y="0"/>
                  </a:cubicBezTo>
                  <a:close/>
                </a:path>
              </a:pathLst>
            </a:custGeom>
            <a:solidFill>
              <a:srgbClr val="007D2A"/>
            </a:solidFill>
          </p:spPr>
        </p:sp>
        <p:sp>
          <p:nvSpPr>
            <p:cNvPr name="TextBox 23" id="23"/>
            <p:cNvSpPr txBox="true"/>
            <p:nvPr/>
          </p:nvSpPr>
          <p:spPr>
            <a:xfrm>
              <a:off x="0" y="-47625"/>
              <a:ext cx="2903239" cy="2027967"/>
            </a:xfrm>
            <a:prstGeom prst="rect">
              <a:avLst/>
            </a:prstGeom>
          </p:spPr>
          <p:txBody>
            <a:bodyPr anchor="ctr" rtlCol="false" tIns="50800" lIns="50800" bIns="50800" rIns="50800"/>
            <a:lstStyle/>
            <a:p>
              <a:pPr algn="ctr">
                <a:lnSpc>
                  <a:spcPts val="2520"/>
                </a:lnSpc>
              </a:pPr>
            </a:p>
          </p:txBody>
        </p:sp>
      </p:grpSp>
      <p:sp>
        <p:nvSpPr>
          <p:cNvPr name="TextBox 24" id="24"/>
          <p:cNvSpPr txBox="true"/>
          <p:nvPr/>
        </p:nvSpPr>
        <p:spPr>
          <a:xfrm rot="0">
            <a:off x="4869598" y="641629"/>
            <a:ext cx="8078690" cy="762000"/>
          </a:xfrm>
          <a:prstGeom prst="rect">
            <a:avLst/>
          </a:prstGeom>
        </p:spPr>
        <p:txBody>
          <a:bodyPr anchor="t" rtlCol="false" tIns="0" lIns="0" bIns="0" rIns="0">
            <a:spAutoFit/>
          </a:bodyPr>
          <a:lstStyle/>
          <a:p>
            <a:pPr algn="ctr" marL="0" indent="0" lvl="0">
              <a:lnSpc>
                <a:spcPts val="6299"/>
              </a:lnSpc>
            </a:pPr>
            <a:r>
              <a:rPr lang="en-US" sz="4499" spc="-49">
                <a:solidFill>
                  <a:srgbClr val="FFFFFF"/>
                </a:solidFill>
                <a:latin typeface="Press Start 2P"/>
                <a:ea typeface="Press Start 2P"/>
                <a:cs typeface="Press Start 2P"/>
                <a:sym typeface="Press Start 2P"/>
              </a:rPr>
              <a:t>PROJECTS</a:t>
            </a:r>
          </a:p>
        </p:txBody>
      </p:sp>
      <p:sp>
        <p:nvSpPr>
          <p:cNvPr name="TextBox 25" id="25"/>
          <p:cNvSpPr txBox="true"/>
          <p:nvPr/>
        </p:nvSpPr>
        <p:spPr>
          <a:xfrm rot="0">
            <a:off x="4821708" y="1772567"/>
            <a:ext cx="9191113" cy="5444490"/>
          </a:xfrm>
          <a:prstGeom prst="rect">
            <a:avLst/>
          </a:prstGeom>
        </p:spPr>
        <p:txBody>
          <a:bodyPr anchor="t" rtlCol="false" tIns="0" lIns="0" bIns="0" rIns="0">
            <a:spAutoFit/>
          </a:bodyPr>
          <a:lstStyle/>
          <a:p>
            <a:pPr algn="l" marL="518157" indent="-259078" lvl="1">
              <a:lnSpc>
                <a:spcPts val="3359"/>
              </a:lnSpc>
              <a:buFont typeface="Arial"/>
              <a:buChar char="•"/>
            </a:pPr>
            <a:r>
              <a:rPr lang="en-US" sz="2399">
                <a:solidFill>
                  <a:srgbClr val="FFFFFF"/>
                </a:solidFill>
                <a:latin typeface="Roboto"/>
                <a:ea typeface="Roboto"/>
                <a:cs typeface="Roboto"/>
                <a:sym typeface="Roboto"/>
              </a:rPr>
              <a:t>(W2) Create an “OSINT Report” on yourself, what information can you find?</a:t>
            </a:r>
          </a:p>
          <a:p>
            <a:pPr algn="l" marL="518157" indent="-259078" lvl="1">
              <a:lnSpc>
                <a:spcPts val="3359"/>
              </a:lnSpc>
              <a:buFont typeface="Arial"/>
              <a:buChar char="•"/>
            </a:pPr>
            <a:r>
              <a:rPr lang="en-US" sz="2399">
                <a:solidFill>
                  <a:srgbClr val="FFFFFF"/>
                </a:solidFill>
                <a:latin typeface="Roboto"/>
                <a:ea typeface="Roboto"/>
                <a:cs typeface="Roboto"/>
                <a:sym typeface="Roboto"/>
              </a:rPr>
              <a:t>(W3) Make a splunk trial account and  connect a test computer or find some test logs to use and practice searching and using the query language</a:t>
            </a:r>
          </a:p>
          <a:p>
            <a:pPr algn="l" marL="518157" indent="-259078" lvl="1">
              <a:lnSpc>
                <a:spcPts val="3359"/>
              </a:lnSpc>
              <a:buFont typeface="Arial"/>
              <a:buChar char="•"/>
            </a:pPr>
            <a:r>
              <a:rPr lang="en-US" sz="2399">
                <a:solidFill>
                  <a:srgbClr val="FFFFFF"/>
                </a:solidFill>
                <a:latin typeface="Roboto"/>
                <a:ea typeface="Roboto"/>
                <a:cs typeface="Roboto"/>
                <a:sym typeface="Roboto"/>
              </a:rPr>
              <a:t>(W5) Install a FlareVM and use it with either CTF challenges or real malware and try to make a report based on what you find in how the malware works</a:t>
            </a:r>
          </a:p>
          <a:p>
            <a:pPr algn="l" marL="518157" indent="-259078" lvl="1">
              <a:lnSpc>
                <a:spcPts val="3359"/>
              </a:lnSpc>
              <a:buFont typeface="Arial"/>
              <a:buChar char="•"/>
            </a:pPr>
            <a:r>
              <a:rPr lang="en-US" sz="2399">
                <a:solidFill>
                  <a:srgbClr val="FFFFFF"/>
                </a:solidFill>
                <a:latin typeface="Roboto"/>
                <a:ea typeface="Roboto"/>
                <a:cs typeface="Roboto"/>
                <a:sym typeface="Roboto"/>
              </a:rPr>
              <a:t>(W7) Use HTB / THM to break into virtual machines / Set up a vulnerable practice range and make a report over what was found)</a:t>
            </a:r>
          </a:p>
          <a:p>
            <a:pPr algn="l" marL="518157" indent="-259078" lvl="1">
              <a:lnSpc>
                <a:spcPts val="3359"/>
              </a:lnSpc>
              <a:spcBef>
                <a:spcPct val="0"/>
              </a:spcBef>
              <a:buFont typeface="Arial"/>
              <a:buChar char="•"/>
            </a:pPr>
            <a:r>
              <a:rPr lang="en-US" sz="2399">
                <a:solidFill>
                  <a:srgbClr val="FFFFFF"/>
                </a:solidFill>
                <a:latin typeface="Roboto"/>
                <a:ea typeface="Roboto"/>
                <a:cs typeface="Roboto"/>
                <a:sym typeface="Roboto"/>
              </a:rPr>
              <a:t>(W8) Try to complete as many challenges in OWASP juice shop as possible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3418" y="-6791361"/>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9776" y="-6838944"/>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25606" y="7194287"/>
            <a:ext cx="1318419" cy="2571384"/>
          </a:xfrm>
          <a:custGeom>
            <a:avLst/>
            <a:gdLst/>
            <a:ahLst/>
            <a:cxnLst/>
            <a:rect r="r" b="b" t="t" l="l"/>
            <a:pathLst>
              <a:path h="2571384" w="1318419">
                <a:moveTo>
                  <a:pt x="0" y="0"/>
                </a:moveTo>
                <a:lnTo>
                  <a:pt x="1318419" y="0"/>
                </a:lnTo>
                <a:lnTo>
                  <a:pt x="1318419" y="2571384"/>
                </a:lnTo>
                <a:lnTo>
                  <a:pt x="0" y="25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93064" y="7902866"/>
            <a:ext cx="885655" cy="1727340"/>
          </a:xfrm>
          <a:custGeom>
            <a:avLst/>
            <a:gdLst/>
            <a:ahLst/>
            <a:cxnLst/>
            <a:rect r="r" b="b" t="t" l="l"/>
            <a:pathLst>
              <a:path h="1727340" w="885655">
                <a:moveTo>
                  <a:pt x="0" y="0"/>
                </a:moveTo>
                <a:lnTo>
                  <a:pt x="885655" y="0"/>
                </a:lnTo>
                <a:lnTo>
                  <a:pt x="885655"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97489" y="7194287"/>
            <a:ext cx="1318419" cy="2571384"/>
          </a:xfrm>
          <a:custGeom>
            <a:avLst/>
            <a:gdLst/>
            <a:ahLst/>
            <a:cxnLst/>
            <a:rect r="r" b="b" t="t" l="l"/>
            <a:pathLst>
              <a:path h="2571384" w="1318419">
                <a:moveTo>
                  <a:pt x="0" y="0"/>
                </a:moveTo>
                <a:lnTo>
                  <a:pt x="1318419" y="0"/>
                </a:lnTo>
                <a:lnTo>
                  <a:pt x="1318419" y="2571384"/>
                </a:lnTo>
                <a:lnTo>
                  <a:pt x="0" y="25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464947" y="7902866"/>
            <a:ext cx="885655" cy="1727340"/>
          </a:xfrm>
          <a:custGeom>
            <a:avLst/>
            <a:gdLst/>
            <a:ahLst/>
            <a:cxnLst/>
            <a:rect r="r" b="b" t="t" l="l"/>
            <a:pathLst>
              <a:path h="1727340" w="885655">
                <a:moveTo>
                  <a:pt x="0" y="0"/>
                </a:moveTo>
                <a:lnTo>
                  <a:pt x="885655" y="0"/>
                </a:lnTo>
                <a:lnTo>
                  <a:pt x="885655"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272877" y="7194287"/>
            <a:ext cx="1318419" cy="2571384"/>
          </a:xfrm>
          <a:custGeom>
            <a:avLst/>
            <a:gdLst/>
            <a:ahLst/>
            <a:cxnLst/>
            <a:rect r="r" b="b" t="t" l="l"/>
            <a:pathLst>
              <a:path h="2571384" w="1318419">
                <a:moveTo>
                  <a:pt x="0" y="0"/>
                </a:moveTo>
                <a:lnTo>
                  <a:pt x="1318418" y="0"/>
                </a:lnTo>
                <a:lnTo>
                  <a:pt x="1318418" y="2571384"/>
                </a:lnTo>
                <a:lnTo>
                  <a:pt x="0" y="25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140335" y="7902866"/>
            <a:ext cx="885655" cy="1727340"/>
          </a:xfrm>
          <a:custGeom>
            <a:avLst/>
            <a:gdLst/>
            <a:ahLst/>
            <a:cxnLst/>
            <a:rect r="r" b="b" t="t" l="l"/>
            <a:pathLst>
              <a:path h="1727340" w="885655">
                <a:moveTo>
                  <a:pt x="0" y="0"/>
                </a:moveTo>
                <a:lnTo>
                  <a:pt x="885654" y="0"/>
                </a:lnTo>
                <a:lnTo>
                  <a:pt x="885654"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5948264" y="6985424"/>
            <a:ext cx="1318419" cy="2571384"/>
          </a:xfrm>
          <a:custGeom>
            <a:avLst/>
            <a:gdLst/>
            <a:ahLst/>
            <a:cxnLst/>
            <a:rect r="r" b="b" t="t" l="l"/>
            <a:pathLst>
              <a:path h="2571384" w="1318419">
                <a:moveTo>
                  <a:pt x="0" y="0"/>
                </a:moveTo>
                <a:lnTo>
                  <a:pt x="1318419" y="0"/>
                </a:lnTo>
                <a:lnTo>
                  <a:pt x="1318419" y="2571383"/>
                </a:lnTo>
                <a:lnTo>
                  <a:pt x="0" y="2571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7815722" y="7694003"/>
            <a:ext cx="885655" cy="1727340"/>
          </a:xfrm>
          <a:custGeom>
            <a:avLst/>
            <a:gdLst/>
            <a:ahLst/>
            <a:cxnLst/>
            <a:rect r="r" b="b" t="t" l="l"/>
            <a:pathLst>
              <a:path h="1727340" w="885655">
                <a:moveTo>
                  <a:pt x="0" y="0"/>
                </a:moveTo>
                <a:lnTo>
                  <a:pt x="885655" y="0"/>
                </a:lnTo>
                <a:lnTo>
                  <a:pt x="885655"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0" y="6953145"/>
            <a:ext cx="1318419" cy="2571384"/>
          </a:xfrm>
          <a:custGeom>
            <a:avLst/>
            <a:gdLst/>
            <a:ahLst/>
            <a:cxnLst/>
            <a:rect r="r" b="b" t="t" l="l"/>
            <a:pathLst>
              <a:path h="2571384" w="1318419">
                <a:moveTo>
                  <a:pt x="0" y="0"/>
                </a:moveTo>
                <a:lnTo>
                  <a:pt x="1318419" y="0"/>
                </a:lnTo>
                <a:lnTo>
                  <a:pt x="1318419" y="2571383"/>
                </a:lnTo>
                <a:lnTo>
                  <a:pt x="0" y="2571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867458" y="7661724"/>
            <a:ext cx="885655" cy="1727340"/>
          </a:xfrm>
          <a:custGeom>
            <a:avLst/>
            <a:gdLst/>
            <a:ahLst/>
            <a:cxnLst/>
            <a:rect r="r" b="b" t="t" l="l"/>
            <a:pathLst>
              <a:path h="1727340" w="885655">
                <a:moveTo>
                  <a:pt x="0" y="0"/>
                </a:moveTo>
                <a:lnTo>
                  <a:pt x="885654" y="0"/>
                </a:lnTo>
                <a:lnTo>
                  <a:pt x="885654" y="1727340"/>
                </a:lnTo>
                <a:lnTo>
                  <a:pt x="0" y="17273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86506"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805705"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4453259"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7141036" y="9244341"/>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0195145"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2764329" y="9244341"/>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5572309"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753028" y="7493924"/>
            <a:ext cx="7315200" cy="2793076"/>
          </a:xfrm>
          <a:custGeom>
            <a:avLst/>
            <a:gdLst/>
            <a:ahLst/>
            <a:cxnLst/>
            <a:rect r="r" b="b" t="t" l="l"/>
            <a:pathLst>
              <a:path h="2793076" w="7315200">
                <a:moveTo>
                  <a:pt x="0" y="0"/>
                </a:moveTo>
                <a:lnTo>
                  <a:pt x="7315200" y="0"/>
                </a:lnTo>
                <a:lnTo>
                  <a:pt x="7315200" y="2793076"/>
                </a:lnTo>
                <a:lnTo>
                  <a:pt x="0" y="27930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9380989" y="2633000"/>
            <a:ext cx="515197" cy="681149"/>
          </a:xfrm>
          <a:custGeom>
            <a:avLst/>
            <a:gdLst/>
            <a:ahLst/>
            <a:cxnLst/>
            <a:rect r="r" b="b" t="t" l="l"/>
            <a:pathLst>
              <a:path h="681149" w="515197">
                <a:moveTo>
                  <a:pt x="0" y="0"/>
                </a:moveTo>
                <a:lnTo>
                  <a:pt x="515196" y="0"/>
                </a:lnTo>
                <a:lnTo>
                  <a:pt x="515196" y="681150"/>
                </a:lnTo>
                <a:lnTo>
                  <a:pt x="0" y="6811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9418440" y="3640977"/>
            <a:ext cx="615216" cy="616856"/>
          </a:xfrm>
          <a:custGeom>
            <a:avLst/>
            <a:gdLst/>
            <a:ahLst/>
            <a:cxnLst/>
            <a:rect r="r" b="b" t="t" l="l"/>
            <a:pathLst>
              <a:path h="616856" w="615216">
                <a:moveTo>
                  <a:pt x="0" y="0"/>
                </a:moveTo>
                <a:lnTo>
                  <a:pt x="615216" y="0"/>
                </a:lnTo>
                <a:lnTo>
                  <a:pt x="615216" y="616856"/>
                </a:lnTo>
                <a:lnTo>
                  <a:pt x="0" y="61685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9418440" y="4679521"/>
            <a:ext cx="615216" cy="444074"/>
          </a:xfrm>
          <a:custGeom>
            <a:avLst/>
            <a:gdLst/>
            <a:ahLst/>
            <a:cxnLst/>
            <a:rect r="r" b="b" t="t" l="l"/>
            <a:pathLst>
              <a:path h="444074" w="615216">
                <a:moveTo>
                  <a:pt x="0" y="0"/>
                </a:moveTo>
                <a:lnTo>
                  <a:pt x="615216" y="0"/>
                </a:lnTo>
                <a:lnTo>
                  <a:pt x="615216" y="444074"/>
                </a:lnTo>
                <a:lnTo>
                  <a:pt x="0" y="4440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5" id="25"/>
          <p:cNvSpPr txBox="true"/>
          <p:nvPr/>
        </p:nvSpPr>
        <p:spPr>
          <a:xfrm rot="0">
            <a:off x="10425156" y="2786884"/>
            <a:ext cx="3665710" cy="343876"/>
          </a:xfrm>
          <a:prstGeom prst="rect">
            <a:avLst/>
          </a:prstGeom>
        </p:spPr>
        <p:txBody>
          <a:bodyPr anchor="t" rtlCol="false" tIns="0" lIns="0" bIns="0" rIns="0">
            <a:spAutoFit/>
          </a:bodyPr>
          <a:lstStyle/>
          <a:p>
            <a:pPr algn="just">
              <a:lnSpc>
                <a:spcPts val="2825"/>
              </a:lnSpc>
              <a:spcBef>
                <a:spcPct val="0"/>
              </a:spcBef>
            </a:pPr>
            <a:r>
              <a:rPr lang="en-US" sz="2018" spc="137">
                <a:solidFill>
                  <a:srgbClr val="FFFFFF"/>
                </a:solidFill>
                <a:latin typeface="DM Sans"/>
                <a:ea typeface="DM Sans"/>
                <a:cs typeface="DM Sans"/>
                <a:sym typeface="DM Sans"/>
              </a:rPr>
              <a:t>816-591-6175</a:t>
            </a:r>
          </a:p>
        </p:txBody>
      </p:sp>
      <p:sp>
        <p:nvSpPr>
          <p:cNvPr name="TextBox 26" id="26"/>
          <p:cNvSpPr txBox="true"/>
          <p:nvPr/>
        </p:nvSpPr>
        <p:spPr>
          <a:xfrm rot="0">
            <a:off x="10425156" y="3733507"/>
            <a:ext cx="4106566" cy="343876"/>
          </a:xfrm>
          <a:prstGeom prst="rect">
            <a:avLst/>
          </a:prstGeom>
        </p:spPr>
        <p:txBody>
          <a:bodyPr anchor="t" rtlCol="false" tIns="0" lIns="0" bIns="0" rIns="0">
            <a:spAutoFit/>
          </a:bodyPr>
          <a:lstStyle/>
          <a:p>
            <a:pPr algn="just">
              <a:lnSpc>
                <a:spcPts val="2825"/>
              </a:lnSpc>
              <a:spcBef>
                <a:spcPct val="0"/>
              </a:spcBef>
            </a:pPr>
            <a:r>
              <a:rPr lang="en-US" sz="2018" spc="137">
                <a:solidFill>
                  <a:srgbClr val="FFFFFF"/>
                </a:solidFill>
                <a:latin typeface="DM Sans"/>
                <a:ea typeface="DM Sans"/>
                <a:cs typeface="DM Sans"/>
                <a:sym typeface="DM Sans"/>
              </a:rPr>
              <a:t>olsontyler.com</a:t>
            </a:r>
          </a:p>
        </p:txBody>
      </p:sp>
      <p:sp>
        <p:nvSpPr>
          <p:cNvPr name="TextBox 27" id="27"/>
          <p:cNvSpPr txBox="true"/>
          <p:nvPr/>
        </p:nvSpPr>
        <p:spPr>
          <a:xfrm rot="0">
            <a:off x="10425156" y="4689284"/>
            <a:ext cx="4482110" cy="343876"/>
          </a:xfrm>
          <a:prstGeom prst="rect">
            <a:avLst/>
          </a:prstGeom>
        </p:spPr>
        <p:txBody>
          <a:bodyPr anchor="t" rtlCol="false" tIns="0" lIns="0" bIns="0" rIns="0">
            <a:spAutoFit/>
          </a:bodyPr>
          <a:lstStyle/>
          <a:p>
            <a:pPr algn="just">
              <a:lnSpc>
                <a:spcPts val="2825"/>
              </a:lnSpc>
              <a:spcBef>
                <a:spcPct val="0"/>
              </a:spcBef>
            </a:pPr>
            <a:r>
              <a:rPr lang="en-US" sz="2018" spc="137">
                <a:solidFill>
                  <a:srgbClr val="FFFFFF"/>
                </a:solidFill>
                <a:latin typeface="DM Sans"/>
                <a:ea typeface="DM Sans"/>
                <a:cs typeface="DM Sans"/>
                <a:sym typeface="DM Sans"/>
              </a:rPr>
              <a:t>olsontyler@pm.me</a:t>
            </a:r>
          </a:p>
        </p:txBody>
      </p:sp>
      <p:sp>
        <p:nvSpPr>
          <p:cNvPr name="TextBox 28" id="28"/>
          <p:cNvSpPr txBox="true"/>
          <p:nvPr/>
        </p:nvSpPr>
        <p:spPr>
          <a:xfrm rot="0">
            <a:off x="9380989" y="1389051"/>
            <a:ext cx="7096247" cy="854076"/>
          </a:xfrm>
          <a:prstGeom prst="rect">
            <a:avLst/>
          </a:prstGeom>
        </p:spPr>
        <p:txBody>
          <a:bodyPr anchor="t" rtlCol="false" tIns="0" lIns="0" bIns="0" rIns="0">
            <a:spAutoFit/>
          </a:bodyPr>
          <a:lstStyle/>
          <a:p>
            <a:pPr algn="just" marL="0" indent="0" lvl="0">
              <a:lnSpc>
                <a:spcPts val="6999"/>
              </a:lnSpc>
            </a:pPr>
            <a:r>
              <a:rPr lang="en-US" sz="4999" spc="-54">
                <a:solidFill>
                  <a:srgbClr val="FFFFFF"/>
                </a:solidFill>
                <a:latin typeface="Press Start 2P"/>
                <a:ea typeface="Press Start 2P"/>
                <a:cs typeface="Press Start 2P"/>
                <a:sym typeface="Press Start 2P"/>
              </a:rPr>
              <a:t>CONTACT ME</a:t>
            </a:r>
          </a:p>
        </p:txBody>
      </p:sp>
      <p:pic>
        <p:nvPicPr>
          <p:cNvPr name="Picture 29" id="29"/>
          <p:cNvPicPr>
            <a:picLocks noChangeAspect="true"/>
          </p:cNvPicPr>
          <p:nvPr/>
        </p:nvPicPr>
        <p:blipFill>
          <a:blip r:embed="rId16"/>
          <a:stretch>
            <a:fillRect/>
          </a:stretch>
        </p:blipFill>
        <p:spPr>
          <a:xfrm rot="0">
            <a:off x="1105386" y="183089"/>
            <a:ext cx="6584346" cy="6584346"/>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74214" y="-5883876"/>
            <a:ext cx="15440683" cy="15440683"/>
          </a:xfrm>
          <a:custGeom>
            <a:avLst/>
            <a:gdLst/>
            <a:ahLst/>
            <a:cxnLst/>
            <a:rect r="r" b="b" t="t" l="l"/>
            <a:pathLst>
              <a:path h="15440683" w="15440683">
                <a:moveTo>
                  <a:pt x="0" y="0"/>
                </a:moveTo>
                <a:lnTo>
                  <a:pt x="15440684" y="0"/>
                </a:lnTo>
                <a:lnTo>
                  <a:pt x="15440684"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44000" y="-5883876"/>
            <a:ext cx="15440683" cy="15440683"/>
          </a:xfrm>
          <a:custGeom>
            <a:avLst/>
            <a:gdLst/>
            <a:ahLst/>
            <a:cxnLst/>
            <a:rect r="r" b="b" t="t" l="l"/>
            <a:pathLst>
              <a:path h="15440683" w="15440683">
                <a:moveTo>
                  <a:pt x="0" y="0"/>
                </a:moveTo>
                <a:lnTo>
                  <a:pt x="15440683" y="0"/>
                </a:lnTo>
                <a:lnTo>
                  <a:pt x="15440683" y="15440683"/>
                </a:lnTo>
                <a:lnTo>
                  <a:pt x="0" y="154406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190860" y="4438420"/>
            <a:ext cx="4097140" cy="5327250"/>
          </a:xfrm>
          <a:custGeom>
            <a:avLst/>
            <a:gdLst/>
            <a:ahLst/>
            <a:cxnLst/>
            <a:rect r="r" b="b" t="t" l="l"/>
            <a:pathLst>
              <a:path h="5327250" w="4097140">
                <a:moveTo>
                  <a:pt x="4097140" y="0"/>
                </a:moveTo>
                <a:lnTo>
                  <a:pt x="0" y="0"/>
                </a:lnTo>
                <a:lnTo>
                  <a:pt x="0" y="5327251"/>
                </a:lnTo>
                <a:lnTo>
                  <a:pt x="4097140" y="5327251"/>
                </a:lnTo>
                <a:lnTo>
                  <a:pt x="40971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4438420"/>
            <a:ext cx="4097140" cy="5327250"/>
          </a:xfrm>
          <a:custGeom>
            <a:avLst/>
            <a:gdLst/>
            <a:ahLst/>
            <a:cxnLst/>
            <a:rect r="r" b="b" t="t" l="l"/>
            <a:pathLst>
              <a:path h="5327250" w="4097140">
                <a:moveTo>
                  <a:pt x="0" y="0"/>
                </a:moveTo>
                <a:lnTo>
                  <a:pt x="4097140" y="0"/>
                </a:lnTo>
                <a:lnTo>
                  <a:pt x="4097140" y="5327251"/>
                </a:lnTo>
                <a:lnTo>
                  <a:pt x="0" y="53272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550608" y="7704014"/>
            <a:ext cx="741117" cy="1852793"/>
          </a:xfrm>
          <a:custGeom>
            <a:avLst/>
            <a:gdLst/>
            <a:ahLst/>
            <a:cxnLst/>
            <a:rect r="r" b="b" t="t" l="l"/>
            <a:pathLst>
              <a:path h="1852793" w="741117">
                <a:moveTo>
                  <a:pt x="0" y="0"/>
                </a:moveTo>
                <a:lnTo>
                  <a:pt x="741117" y="0"/>
                </a:lnTo>
                <a:lnTo>
                  <a:pt x="741117" y="1852793"/>
                </a:lnTo>
                <a:lnTo>
                  <a:pt x="0" y="18527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529245" y="8207848"/>
            <a:ext cx="741117" cy="1852793"/>
          </a:xfrm>
          <a:custGeom>
            <a:avLst/>
            <a:gdLst/>
            <a:ahLst/>
            <a:cxnLst/>
            <a:rect r="r" b="b" t="t" l="l"/>
            <a:pathLst>
              <a:path h="1852793" w="741117">
                <a:moveTo>
                  <a:pt x="0" y="0"/>
                </a:moveTo>
                <a:lnTo>
                  <a:pt x="741117" y="0"/>
                </a:lnTo>
                <a:lnTo>
                  <a:pt x="741117" y="1852793"/>
                </a:lnTo>
                <a:lnTo>
                  <a:pt x="0" y="18527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508487" y="7704014"/>
            <a:ext cx="741117" cy="1852793"/>
          </a:xfrm>
          <a:custGeom>
            <a:avLst/>
            <a:gdLst/>
            <a:ahLst/>
            <a:cxnLst/>
            <a:rect r="r" b="b" t="t" l="l"/>
            <a:pathLst>
              <a:path h="1852793" w="741117">
                <a:moveTo>
                  <a:pt x="0" y="0"/>
                </a:moveTo>
                <a:lnTo>
                  <a:pt x="741117" y="0"/>
                </a:lnTo>
                <a:lnTo>
                  <a:pt x="741117" y="1852793"/>
                </a:lnTo>
                <a:lnTo>
                  <a:pt x="0" y="18527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1038396" y="7704014"/>
            <a:ext cx="741117" cy="1852793"/>
          </a:xfrm>
          <a:custGeom>
            <a:avLst/>
            <a:gdLst/>
            <a:ahLst/>
            <a:cxnLst/>
            <a:rect r="r" b="b" t="t" l="l"/>
            <a:pathLst>
              <a:path h="1852793" w="741117">
                <a:moveTo>
                  <a:pt x="0" y="0"/>
                </a:moveTo>
                <a:lnTo>
                  <a:pt x="741117" y="0"/>
                </a:lnTo>
                <a:lnTo>
                  <a:pt x="741117" y="1852793"/>
                </a:lnTo>
                <a:lnTo>
                  <a:pt x="0" y="18527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2017033" y="8207848"/>
            <a:ext cx="741117" cy="1852793"/>
          </a:xfrm>
          <a:custGeom>
            <a:avLst/>
            <a:gdLst/>
            <a:ahLst/>
            <a:cxnLst/>
            <a:rect r="r" b="b" t="t" l="l"/>
            <a:pathLst>
              <a:path h="1852793" w="741117">
                <a:moveTo>
                  <a:pt x="0" y="0"/>
                </a:moveTo>
                <a:lnTo>
                  <a:pt x="741117" y="0"/>
                </a:lnTo>
                <a:lnTo>
                  <a:pt x="741117" y="1852793"/>
                </a:lnTo>
                <a:lnTo>
                  <a:pt x="0" y="18527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2996275" y="7704014"/>
            <a:ext cx="741117" cy="1852793"/>
          </a:xfrm>
          <a:custGeom>
            <a:avLst/>
            <a:gdLst/>
            <a:ahLst/>
            <a:cxnLst/>
            <a:rect r="r" b="b" t="t" l="l"/>
            <a:pathLst>
              <a:path h="1852793" w="741117">
                <a:moveTo>
                  <a:pt x="0" y="0"/>
                </a:moveTo>
                <a:lnTo>
                  <a:pt x="741117" y="0"/>
                </a:lnTo>
                <a:lnTo>
                  <a:pt x="741117" y="1852793"/>
                </a:lnTo>
                <a:lnTo>
                  <a:pt x="0" y="18527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586506"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805705"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4453259"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7141036" y="9244341"/>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0195145"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12764329" y="9244341"/>
            <a:ext cx="3554379" cy="1034001"/>
          </a:xfrm>
          <a:custGeom>
            <a:avLst/>
            <a:gdLst/>
            <a:ahLst/>
            <a:cxnLst/>
            <a:rect r="r" b="b" t="t" l="l"/>
            <a:pathLst>
              <a:path h="1034001" w="3554379">
                <a:moveTo>
                  <a:pt x="0" y="0"/>
                </a:moveTo>
                <a:lnTo>
                  <a:pt x="3554379" y="0"/>
                </a:lnTo>
                <a:lnTo>
                  <a:pt x="3554379" y="1034002"/>
                </a:lnTo>
                <a:lnTo>
                  <a:pt x="0" y="1034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15572309" y="9252999"/>
            <a:ext cx="3554379" cy="1034001"/>
          </a:xfrm>
          <a:custGeom>
            <a:avLst/>
            <a:gdLst/>
            <a:ahLst/>
            <a:cxnLst/>
            <a:rect r="r" b="b" t="t" l="l"/>
            <a:pathLst>
              <a:path h="1034001" w="3554379">
                <a:moveTo>
                  <a:pt x="0" y="0"/>
                </a:moveTo>
                <a:lnTo>
                  <a:pt x="3554379" y="0"/>
                </a:lnTo>
                <a:lnTo>
                  <a:pt x="3554379" y="1034001"/>
                </a:lnTo>
                <a:lnTo>
                  <a:pt x="0" y="1034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252316" y="685518"/>
            <a:ext cx="2213702" cy="1002203"/>
          </a:xfrm>
          <a:custGeom>
            <a:avLst/>
            <a:gdLst/>
            <a:ahLst/>
            <a:cxnLst/>
            <a:rect r="r" b="b" t="t" l="l"/>
            <a:pathLst>
              <a:path h="1002203" w="2213702">
                <a:moveTo>
                  <a:pt x="0" y="0"/>
                </a:moveTo>
                <a:lnTo>
                  <a:pt x="2213702" y="0"/>
                </a:lnTo>
                <a:lnTo>
                  <a:pt x="2213702" y="1002204"/>
                </a:lnTo>
                <a:lnTo>
                  <a:pt x="0" y="10022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359167" y="685518"/>
            <a:ext cx="2213702" cy="1002203"/>
          </a:xfrm>
          <a:custGeom>
            <a:avLst/>
            <a:gdLst/>
            <a:ahLst/>
            <a:cxnLst/>
            <a:rect r="r" b="b" t="t" l="l"/>
            <a:pathLst>
              <a:path h="1002203" w="2213702">
                <a:moveTo>
                  <a:pt x="0" y="0"/>
                </a:moveTo>
                <a:lnTo>
                  <a:pt x="2213702" y="0"/>
                </a:lnTo>
                <a:lnTo>
                  <a:pt x="2213702" y="1002204"/>
                </a:lnTo>
                <a:lnTo>
                  <a:pt x="0" y="10022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true" flipV="false" rot="0">
            <a:off x="164" y="2816218"/>
            <a:ext cx="4113521" cy="1002203"/>
          </a:xfrm>
          <a:custGeom>
            <a:avLst/>
            <a:gdLst/>
            <a:ahLst/>
            <a:cxnLst/>
            <a:rect r="r" b="b" t="t" l="l"/>
            <a:pathLst>
              <a:path h="1002203" w="4113521">
                <a:moveTo>
                  <a:pt x="4113521" y="0"/>
                </a:moveTo>
                <a:lnTo>
                  <a:pt x="0" y="0"/>
                </a:lnTo>
                <a:lnTo>
                  <a:pt x="0" y="1002203"/>
                </a:lnTo>
                <a:lnTo>
                  <a:pt x="4113521" y="1002203"/>
                </a:lnTo>
                <a:lnTo>
                  <a:pt x="411352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14565659" y="550875"/>
            <a:ext cx="4073361" cy="992419"/>
          </a:xfrm>
          <a:custGeom>
            <a:avLst/>
            <a:gdLst/>
            <a:ahLst/>
            <a:cxnLst/>
            <a:rect r="r" b="b" t="t" l="l"/>
            <a:pathLst>
              <a:path h="992419" w="4073361">
                <a:moveTo>
                  <a:pt x="0" y="0"/>
                </a:moveTo>
                <a:lnTo>
                  <a:pt x="4073361" y="0"/>
                </a:lnTo>
                <a:lnTo>
                  <a:pt x="4073361" y="992419"/>
                </a:lnTo>
                <a:lnTo>
                  <a:pt x="0" y="9924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3" id="23"/>
          <p:cNvSpPr/>
          <p:nvPr/>
        </p:nvSpPr>
        <p:spPr>
          <a:xfrm flipH="false" flipV="false" rot="0">
            <a:off x="15045598" y="2816218"/>
            <a:ext cx="2213702" cy="1002203"/>
          </a:xfrm>
          <a:custGeom>
            <a:avLst/>
            <a:gdLst/>
            <a:ahLst/>
            <a:cxnLst/>
            <a:rect r="r" b="b" t="t" l="l"/>
            <a:pathLst>
              <a:path h="1002203" w="2213702">
                <a:moveTo>
                  <a:pt x="0" y="0"/>
                </a:moveTo>
                <a:lnTo>
                  <a:pt x="2213702" y="0"/>
                </a:lnTo>
                <a:lnTo>
                  <a:pt x="2213702" y="1002203"/>
                </a:lnTo>
                <a:lnTo>
                  <a:pt x="0" y="10022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true" flipV="false" rot="0">
            <a:off x="13938747" y="2816218"/>
            <a:ext cx="2213702" cy="1002203"/>
          </a:xfrm>
          <a:custGeom>
            <a:avLst/>
            <a:gdLst/>
            <a:ahLst/>
            <a:cxnLst/>
            <a:rect r="r" b="b" t="t" l="l"/>
            <a:pathLst>
              <a:path h="1002203" w="2213702">
                <a:moveTo>
                  <a:pt x="2213702" y="0"/>
                </a:moveTo>
                <a:lnTo>
                  <a:pt x="0" y="0"/>
                </a:lnTo>
                <a:lnTo>
                  <a:pt x="0" y="1002203"/>
                </a:lnTo>
                <a:lnTo>
                  <a:pt x="2213702" y="1002203"/>
                </a:lnTo>
                <a:lnTo>
                  <a:pt x="221370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5595876" y="2603270"/>
            <a:ext cx="7096247" cy="3479801"/>
          </a:xfrm>
          <a:prstGeom prst="rect">
            <a:avLst/>
          </a:prstGeom>
        </p:spPr>
        <p:txBody>
          <a:bodyPr anchor="t" rtlCol="false" tIns="0" lIns="0" bIns="0" rIns="0">
            <a:spAutoFit/>
          </a:bodyPr>
          <a:lstStyle/>
          <a:p>
            <a:pPr algn="ctr" marL="0" indent="0" lvl="0">
              <a:lnSpc>
                <a:spcPts val="13999"/>
              </a:lnSpc>
            </a:pPr>
            <a:r>
              <a:rPr lang="en-US" sz="9999" spc="-109">
                <a:solidFill>
                  <a:srgbClr val="FFFFFF"/>
                </a:solidFill>
                <a:latin typeface="Press Start 2P"/>
                <a:ea typeface="Press Start 2P"/>
                <a:cs typeface="Press Start 2P"/>
                <a:sym typeface="Press Start 2P"/>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DAHF6hwC9-I</dc:identifier>
  <dcterms:modified xsi:type="dcterms:W3CDTF">2011-08-01T06:04:30Z</dcterms:modified>
  <cp:revision>1</cp:revision>
  <dc:title>Computer Forensics -- Final day</dc:title>
</cp:coreProperties>
</file>